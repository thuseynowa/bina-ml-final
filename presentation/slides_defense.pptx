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Problem, data and protocol — Tahmina Huseynova" id="{8d7a5da7-d20b-6285-c1fd-f2ed0588315e}">
          <p14:sldIdLst>
            <p14:sldId id="256"/>
            <p14:sldId id="257"/>
            <p14:sldId id="258"/>
            <p14:sldId id="259"/>
            <p14:sldId id="260"/>
          </p14:sldIdLst>
        </p14:section>
        <p14:section name="2 · Decision tree — Elshan Samadzade" id="{d1812631-9e2c-c9d3-344a-dbfc453f3c2f}">
          <p14:sldIdLst>
            <p14:sldId id="261"/>
            <p14:sldId id="262"/>
            <p14:sldId id="263"/>
          </p14:sldIdLst>
        </p14:section>
        <p14:section name="3 · Pegasos SVM — Alish Hajiyev" id="{6acbc776-b33c-d11a-4f98-5bdc90ed6eaf}">
          <p14:sldIdLst>
            <p14:sldId id="264"/>
            <p14:sldId id="265"/>
            <p14:sldId id="266"/>
          </p14:sldIdLst>
        </p14:section>
        <p14:section name="4 · Benchmark, bonuses, limitations — Nihat Ismayilzade" id="{c7a915a7-37e2-65e5-bd66-f9d7b23a34a6}">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[Tahmina · ~0:30]
Good afternoon. We are Alish, Tahmina, Nihat and Elshan. Our project asks one question: can two classical models written from scratch in NumPy — a decision tree and a support-vector machine — stand next to scikit-learn on real, messy apartment listings from bina.az? I will present the data and the experimental protocol, Elshan the tree, Alish the SVM, and Nihat the benchmark, bonuses and conclusions. I will also come back for the error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[Tahmina · ~1:00]
Our data comes from bina.az, the largest real-estate platform in Azerbaijan — one hundred thousand scraped listings. From this one dataset we built two tasks. Task A is regression: we predict the logarithm of the price, because prices have a heavy tail — a few very expensive apartments would otherwise dominate the error. Task B is classification: is a listing "premium" or "standard", where premium means above the median price of the training set, 208 thousand manat. The golden rule of the project: both models are our own NumPy code. Scikit-learn is used only as a baseline, with exactly the same features, the same split and matched hyperparameters. The headline, which Nihat will show in detail: our models land within about 0.002 of their scikit-learn twins on both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[Tahmina · ~1:00]
The raw data is a real scraped dump, so cleaning was a large part of the work, and every rule is code in data_prep.py. First, the scraper visited the same listing many times, so we keep the latest version of each listing URL — that removes thirty-six thousand rows. Second, we keep only residential categories; offices and land plots quote areas in different units and are a different market. Third, many numbers arrive as Azerbaijani text — "145 square metres", "floor 7 of 9" — and we parse them. Fourth, outliers: we use fixed bounds — price between ten thousand and three million manat, area between fifteen and eight hundred square metres, coordinates inside Azerbaijan. We deliberately avoid quantiles, because a quantile is a statistic of the whole dataset including the test rows. Missing values get a constant plus an indicator column — again, nothing is fitted. The figure shows what we are left with: a heavy-tailed price, a near-normal log-price, and area as the strongest single predictor.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[Tahmina · ~0:50]
The most important slide of my part. The dataset contains two columns, unit_price and total_price. Unit price is price divided by area; total price equals the price in 99.99 percent of rows. They are computed from the target. If you train on them, validation looks perfect and the model is useless on a new listing. We dropped both, and we also dropped identifiers, free text and popularity counters such as views — those are consequences of the listing, not properties of the apartment. What remains are 55 features: numerics like area and the distance to the city centre, binary flags, and one-hot encodings for the building category and the thirty most frequent districts. One detail we are proud of: the list of thirty districts is chosen from the training rows only, so even the encoding does not see validation or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[Tahmina · ~1:00]
Now the protocol. We use a seeded 70-15-15 split that is stratified on deciles of log-price: each decile is shuffled and cut separately, so all three parts have the same price distribution — the median log-price is identical to four decimals. This stratifies the regression task directly, and the classification task by construction, because the premium label is "above the train median", a cut inside the fifth decile; the premium share comes out at 49.9, 49.8, 49.8 percent. Two rules we followed strictly: the threshold, the scaler and every encoding choice come from the training rows only, and all hyperparameters are chosen on validation. The test set is used once per final model. Everything is reproducible with one command, which first runs ten sanity tests against scikit-learn on toy data and then regenerates every number and figure you will see. Elshan will now open the decision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[Elshan · ~1:10]
Thank you, Tahmina. The tree is a CART-style binary tree with a scikit-learn-like fit, predict and predict_proba API. The core is the split search. The naive approach loops over every feature and every threshold and recomputes the impurity each time — far too slow for forty thousand rows in Python. Instead, for each feature we sort the samples once per node and walk the sorted order with cumulative sums: cumulative class counts for classification, cumulative sums of y and y-squared for regression. From these prefix sums the impurity of every possible left and right child falls out in a single NumPy expression, and we pick the largest weighted decrease. The threshold is the midpoint between the two neighbouring values, exactly as scikit-learn does. We support Gini, entropy and MSE, four stopping rules that are each covered by a unit test, and feature importances as the accumulated impurity decrease. The complexity is the same as the library's; the twelve-times wall-clock gap is Cython versus NumPy, not the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[Elshan · ~0:55]
This is the bias-variance story. On the left, training RMSE on log-price falls monotonically with depth, from 0.44 down to 0.14, while validation error flattens at depth 18 and then creeps up to depth 30 — the tree starts memorising. We chose depth 18 on validation, then swept min_samples_leaf at that depth and found a clean U-shape with the optimum at ten. For the classification task Gini and entropy are nearly identical, Gini slightly ahead, with the best depth at sixteen. All of this is chosen on the validation split; the test set was not touched until the final models were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[Elshan · ~0:55]
Here is the comparison that the project is built around. With the same depth, leaf size and criterion, our tree and scikit-learn's agree on the test set to the third decimal on both tasks, and five-fold cross-validation shows the agreement is systematic: the standard deviation across folds is about 0.002, ten times the difference between the implementations. Where does the residual come from? Tie-breaking: when several splits have equal gain we take the first feature in column order, scikit-learn samples features in random order; and midpoint thresholds can differ in the last floating-point bits. The one real gap is speed — six seconds versus half a second — and that is Cython versus NumPy, not the algorithm. Alish will now show the SVM.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[Alish · ~1:10]
The SVM is trained with Pegasos. Instead of solving the dual quadratic programme, we minimise the primal directly: the regularised hinge loss, lambda over two times the squared norm of w plus the average hinge. Each step draws a mini-batch of 64 examples; for the examples inside the margin we move w towards y-times-x, and in every step we shrink w by one minus eta-lambda — that is the regulariser. The step size is one over lambda-t, the schedule from the Pegasos paper. The bias gets the same averaged sub-gradient but no shrinkage. Because the hinge loss is scale-sensitive we standardise features with training statistics. After training we read off the support vectors — the points on or inside the margin — and the margin width two over the norm of w. On the right you see the objective decreasing for three values of lambda. For a non-linear boundary we chose random Fourier features: a random cosine map whose inner products approximate the RBF kernel, so the identical linear solver runs on the transformed features in linear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[Alish · ~1:10]
The statement asks us to expose three solver hyperparameters and show that each matters. Lambda first: as it grows from ten to the minus six to ten to the minus two, the margin widens thirty times — stronger regularisation means a wider margin — while validation F1 peaks at ten to the minus three and then drops as the model under-fits. Epochs: one epoch is 629 mini-batch steps; F1 is essentially at its plateau after ten epochs, so our thirty thousand steps are generous. The schedule: the Pegasos one-over-lambda-t schedule reaches the lowest objective and the best F1; a constant step is close; one-over-root-t shrinks w too slowly, so it ends with a wider margin but a worse-placed boundary. Finally the RFF bandwidth gamma: 0.01 is best, and larger values over-fit sharply.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[Alish · ~0:50]
What did the SVM learn? The weight vector has norm 3.79, so the margin is 0.53 in standardised units, and almost twelve thousand of the forty thousand training points — thirty percent — are support vectors, on or inside the margin. That is a lot, and it is telling us something real: the two tiers genuinely interleave around the 208-thousand threshold. Against scikit-learn, Pegasos matches SGDClassifier with hinge loss and the same lambda within cross-validation noise. The surprising result is that both non-linear models lose to the linear ones by five F1 points — ours with random Fourier features and scikit-learn's SVC with an RBF kernel. Our reading: after one-hot encoding, 46 of 55 features are binary, and the premium boundary is close to linear in area and distance to the centre, so the RBF geometry mostly adds variance. The fact that two independent RBF implementations agree supports that. And note the cost: the exact RBF SVC needed sixteen seconds to fit on a fifteen-thousand-row subsample and eleven seconds just to predict. Nihat will now put everything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[Nihat · ~1:00]
Here is the full benchmark — all metrics implemented from scratch in evaluate.py, and a test asserts they equal scikit-learn's to one-e-minus-nine. Task A on the left: our tree and scikit-learn's agree to the third decimal on RMSE, R-squared and MAE in manat. The bonus forest improves the log-scale RMSE; the two linear bonus models trail by seven hundredths. Task B on the right: tree versus tree, Pegasos versus SGDClassifier, each within two thousandths of F1. Below the tables: five-fold cross-validation on the pooled train-plus-validation data, with the tier threshold and the scaler re-fitted inside every fold, so no fold leaks. The standard deviations — about 0.002 — are larger than every ours-versus-sklearn difference. And timings: the honest cost of pure NumPy is a ten-times slower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[Tahmina · ~1:00]
Let me come back for the error analysis — where and why the models fail. For classification: fifty-eight percent of the tree's mistakes and sixty-two percent of the SVM's are listings whose true price is within fifteen percent of the 208-thousand threshold. For those the label is almost a coin flip, so most of the remaining error is in the framing, not in the model. For regression, the left panel: median relative error is seven to eight percent through the mid-market, rising to thirteen percent in the cheapest decile and sixteen in the most expensive — both tails are priced on things we do not observe. On the right, by district: the worst is Mərdəkan, a garden-house suburb, where land value and build quality are not in our features; the k-means bonus confirms the periphery is hardest. Feature importances from the tree and the SVM weights tell the same story: area first, then geography.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[Nihat · ~0:50]
Three bonus studies, each built on the core code rather than beside it. Ridge regression via the normal equations matches scikit-learn to machine precision, and a linear SVR trained by sub-gradient descent on the epsilon-insensitive loss — the regression twin of Pegasos — matches LinearSVR to four decimals. Both linear models stop at 0.30 RMSE on log-price against 0.23 for the tree: price formation is non-additive, area interacts with location, and a linear model cannot express that. Second, a random forest built from our own trees — thirty bootstrap trees with per-split feature subsampling — brings the tree from 0.229 down to 0.221, tracking scikit-learn's forest at 0.217; the curve shows test error falling as trees are added. Third, k-means on coordinates gives interpretable market segments and shows the periphery is where the regressor struggles.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[Nihat · ~0:50]
Two things an examiner should be able to trust. First, reproducibility: one command runs ten sanity tests and regenerates every number and figure you have seen, from a fixed seed, in about ten minutes; three runs on our laptops were byte-identical. The tests are the interesting part — they pin our tree to scikit-learn's exact split on toy data, and our metrics to the library's to one-e-minus-nine. Second, limitations, stated plainly. These are asking prices, not transactions. The data is Baku only. The median split makes the classification label noisy at the cut. Exponentiating a log prediction estimates the median, not the mean, which biases the manat metrics. Our RFF was tuned over a small grid, and the exact RBF baseline used a subsample. And the free-text descriptions, which plausibly carry the luxury-tail signal, are unused.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[Nihat · ~0:40]
To conclude. About 250 lines of careful NumPy reproduce scikit-learn's accuracy on 57 thousand real listings once the split objective and the sub-gradient schedule are implemented exactly; the remaining differences are tie-breaking and Cython, not statistics. We traced the residual error to the threshold band, the price tails and peripheral districts. Next steps would be text features from the descriptions, a group split by building, a quantile forest for price intervals, and a smearing correction for the manat metrics. Contributions were equal and are listed here and in the repository. Thank you —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548640" y="3703320"/>
            <a:ext cx="11091672" cy="2194560"/>
          </a:xfrm>
          <a:prstGeom prst="rect">
            <a:avLst/>
          </a:prstGeom>
          <a:noFill/>
          <a:ln/>
        </p:spPr>
        <p:txBody>
          <a:bodyPr wrap="square" rtlCol="0"/>
          <a:lstStyle>
            <a:lvl1pPr algn="l" indent="0" marL="0">
              <a:buNone/>
              <a:defRPr lang="en-US" sz="1800" dirty="0">
                <a:solidFill>
                  <a:srgbClr val="CADCFC"/>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rtlCol="0"/>
          <a:lstStyle>
            <a:lvl1pPr algn="l" indent="0" marL="0">
              <a:buNone/>
              <a:defRPr lang="en-US" sz="2600" b="1" dirty="0">
                <a:solidFill>
                  <a:srgbClr val="1B2A41"/>
                </a:solidFill>
              </a:defRPr>
            </a:lvl1pPr>
          </a:lstStyle>
          <a:p>
            <a:pPr algn="l" indent="0" marL="0">
              <a:buNone/>
            </a:pPr>
            <a:endParaRPr lang="en-US" sz="2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5B6778"/>
                </a:solidFill>
              </a:rPr>
              <a:t>MLE-AI-201 · Final project · bina.az</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rgbClr val="FFFFFF"/>
                </a:solidFill>
              </a:rPr>
              <a:t>Baku Apartment Prices from the Inside</a:t>
            </a:r>
            <a:endParaRPr lang="en-US" sz="4000" dirty="0"/>
          </a:p>
        </p:txBody>
      </p:sp>
      <p:sp>
        <p:nvSpPr>
          <p:cNvPr id="3" name="Text 0"/>
          <p:cNvSpPr/>
          <p:nvPr>
            <p:ph idx="101" type="body" hasCustomPrompt="1"/>
          </p:nvPr>
        </p:nvSpPr>
        <p:spPr>
          <a:xfrm>
            <a:off x="548640" y="3703320"/>
            <a:ext cx="11091672" cy="2194560"/>
          </a:xfrm>
          <a:prstGeom prst="rect">
            <a:avLst/>
          </a:prstGeom>
          <a:noFill/>
          <a:ln/>
        </p:spPr>
        <p:txBody>
          <a:bodyPr wrap="square" lIns="0" tIns="0" rIns="0" bIns="0" rtlCol="0" anchor="t"/>
          <a:lstStyle/>
          <a:p>
            <a:pPr algn="l" indent="0" marL="0">
              <a:buNone/>
            </a:pPr>
            <a:r>
              <a:rPr lang="en-US" sz="1800" dirty="0">
                <a:solidFill>
                  <a:srgbClr val="CADCFC"/>
                </a:solidFill>
              </a:rPr>
              <a:t>A from-scratch decision tree and Pegasos SVM on 57,421 bina.az listings</a:t>
            </a:r>
            <a:endParaRPr lang="en-US" sz="1800" dirty="0"/>
          </a:p>
          <a:p>
            <a:pPr algn="l" indent="0" marL="0">
              <a:buNone/>
            </a:pPr>
            <a:endParaRPr lang="en-US" sz="1800" dirty="0"/>
          </a:p>
          <a:p>
            <a:pPr algn="l" indent="0" marL="0">
              <a:buNone/>
            </a:pPr>
            <a:r>
              <a:rPr lang="en-US" sz="1800" dirty="0">
                <a:solidFill>
                  <a:srgbClr val="CADCFC"/>
                </a:solidFill>
              </a:rPr>
              <a:t>Alish Hajiyev · Tahmina Hüseynova · Nihat Ismayilzade · Elshan Samadzade</a:t>
            </a:r>
            <a:endParaRPr lang="en-US" sz="1800" dirty="0"/>
          </a:p>
          <a:p>
            <a:pPr algn="l" indent="0" marL="0">
              <a:buNone/>
            </a:pPr>
            <a:r>
              <a:rPr lang="en-US" sz="1800" dirty="0">
                <a:solidFill>
                  <a:srgbClr val="CADCFC"/>
                </a:solidFill>
              </a:rPr>
              <a:t>MLE-AI-201 Machine Learning · AI Academy ·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One real dataset, two learning tasks, two models we had to build ourselves</a:t>
            </a:r>
            <a:endParaRPr lang="en-US" sz="2600" dirty="0"/>
          </a:p>
        </p:txBody>
      </p:sp>
      <p:sp>
        <p:nvSpPr>
          <p:cNvPr id="3" name="Text 1"/>
          <p:cNvSpPr txBox="1"/>
          <p:nvPr/>
        </p:nvSpPr>
        <p:spPr>
          <a:xfrm>
            <a:off x="548640" y="1417320"/>
            <a:ext cx="6400800" cy="4114800"/>
          </a:xfrm>
          <a:prstGeom prst="rect">
            <a:avLst/>
          </a:prstGeom>
          <a:noFill/>
          <a:ln/>
        </p:spPr>
        <p:txBody>
          <a:bodyPr wrap="square" lIns="0" tIns="0" rIns="0" bIns="0" rtlCol="0" anchor="t"/>
          <a:lstStyle/>
          <a:p>
            <a:pPr marL="342900" indent="-342900">
              <a:spcAft>
                <a:spcPts val="600"/>
              </a:spcAft>
              <a:buSzPct val="100000"/>
              <a:buChar char="•"/>
            </a:pPr>
            <a:r>
              <a:rPr lang="en-US" sz="1400" b="1" dirty="0">
                <a:solidFill>
                  <a:schemeClr val="tx1"/>
                </a:solidFill>
              </a:rPr>
              <a:t>Why it matters: </a:t>
            </a:r>
            <a:endParaRPr lang="en-US" sz="1400" dirty="0"/>
          </a:p>
          <a:p>
            <a:pPr lvl="1" indent="0" marL="0">
              <a:spcAft>
                <a:spcPts val="600"/>
              </a:spcAft>
              <a:buNone/>
            </a:pPr>
            <a:r>
              <a:rPr lang="en-US" sz="1400" dirty="0">
                <a:solidFill>
                  <a:schemeClr val="tx1"/>
                </a:solidFill>
              </a:rPr>
              <a:t>Listing prices are heavy-tailed, features mix numbers and Azerbaijani text, and the raw dump is genuinely dirty — the ideal stress test for the classical toolkit.</a:t>
            </a:r>
            <a:endParaRPr lang="en-US" sz="1400" dirty="0"/>
          </a:p>
          <a:p>
            <a:pPr marL="342900" indent="-342900">
              <a:spcAft>
                <a:spcPts val="600"/>
              </a:spcAft>
              <a:buSzPct val="100000"/>
              <a:buChar char="•"/>
            </a:pPr>
            <a:r>
              <a:rPr lang="en-US" sz="1400" b="1" dirty="0">
                <a:solidFill>
                  <a:schemeClr val="tx1"/>
                </a:solidFill>
              </a:rPr>
              <a:t>Task A — regression: </a:t>
            </a:r>
            <a:endParaRPr lang="en-US" sz="1400" dirty="0"/>
          </a:p>
          <a:p>
            <a:pPr lvl="1" indent="0" marL="0">
              <a:spcAft>
                <a:spcPts val="600"/>
              </a:spcAft>
              <a:buNone/>
            </a:pPr>
            <a:r>
              <a:rPr lang="en-US" sz="1400" dirty="0">
                <a:solidFill>
                  <a:schemeClr val="tx1"/>
                </a:solidFill>
              </a:rPr>
              <a:t>predict log(price). Metrics: RMSE, MAE, R² on the log scale and in AZN.</a:t>
            </a:r>
            <a:endParaRPr lang="en-US" sz="1400" dirty="0"/>
          </a:p>
          <a:p>
            <a:pPr marL="342900" indent="-342900">
              <a:spcAft>
                <a:spcPts val="600"/>
              </a:spcAft>
              <a:buSzPct val="100000"/>
              <a:buChar char="•"/>
            </a:pPr>
            <a:r>
              <a:rPr lang="en-US" sz="1400" b="1" dirty="0">
                <a:solidFill>
                  <a:schemeClr val="tx1"/>
                </a:solidFill>
              </a:rPr>
              <a:t>Task B — classification: </a:t>
            </a:r>
            <a:endParaRPr lang="en-US" sz="1400" dirty="0"/>
          </a:p>
          <a:p>
            <a:pPr lvl="1" indent="0" marL="0">
              <a:spcAft>
                <a:spcPts val="600"/>
              </a:spcAft>
              <a:buNone/>
            </a:pPr>
            <a:r>
              <a:rPr lang="en-US" sz="1400" dirty="0">
                <a:solidFill>
                  <a:schemeClr val="tx1"/>
                </a:solidFill>
              </a:rPr>
              <a:t>premium vs standard, threshold = median price of the training set (208,000 AZN). Metrics: precision, recall, F1, ROC-AUC, confusion matrix.</a:t>
            </a:r>
            <a:endParaRPr lang="en-US" sz="1400" dirty="0"/>
          </a:p>
          <a:p>
            <a:pPr marL="342900" indent="-342900">
              <a:spcAft>
                <a:spcPts val="600"/>
              </a:spcAft>
              <a:buSzPct val="100000"/>
              <a:buChar char="•"/>
            </a:pPr>
            <a:r>
              <a:rPr lang="en-US" sz="1400" b="1" dirty="0">
                <a:solidFill>
                  <a:schemeClr val="tx1"/>
                </a:solidFill>
              </a:rPr>
              <a:t>Golden rule: </a:t>
            </a:r>
            <a:endParaRPr lang="en-US" sz="1400" dirty="0"/>
          </a:p>
          <a:p>
            <a:pPr lvl="1" indent="0" marL="0">
              <a:spcAft>
                <a:spcPts val="600"/>
              </a:spcAft>
              <a:buNone/>
            </a:pPr>
            <a:r>
              <a:rPr lang="en-US" sz="1400" dirty="0">
                <a:solidFill>
                  <a:schemeClr val="tx1"/>
                </a:solidFill>
              </a:rPr>
              <a:t>both models are our own NumPy code; scikit-learn appears only as the matched baseline.</a:t>
            </a:r>
            <a:endParaRPr lang="en-US" sz="1400" dirty="0"/>
          </a:p>
        </p:txBody>
      </p:sp>
      <p:sp>
        <p:nvSpPr>
          <p:cNvPr id="4" name="stat card raw scraped listings"/>
          <p:cNvSpPr/>
          <p:nvPr/>
        </p:nvSpPr>
        <p:spPr>
          <a:xfrm>
            <a:off x="7406640" y="1417320"/>
            <a:ext cx="2103120" cy="1234440"/>
          </a:xfrm>
          <a:prstGeom prst="roundRect">
            <a:avLst>
              <a:gd name="adj" fmla="val 5926"/>
            </a:avLst>
          </a:prstGeom>
          <a:solidFill>
            <a:schemeClr val="bg2"/>
          </a:solidFill>
          <a:ln w="12700">
            <a:solidFill>
              <a:schemeClr val="bg2"/>
            </a:solidFill>
            <a:prstDash val="solid"/>
          </a:ln>
        </p:spPr>
      </p:sp>
      <p:sp>
        <p:nvSpPr>
          <p:cNvPr id="5" name="Text 3"/>
          <p:cNvSpPr txBox="1"/>
          <p:nvPr/>
        </p:nvSpPr>
        <p:spPr>
          <a:xfrm>
            <a:off x="7589520" y="1508760"/>
            <a:ext cx="1737360" cy="6400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100,775</a:t>
            </a:r>
            <a:endParaRPr lang="en-US" sz="3000" dirty="0"/>
          </a:p>
        </p:txBody>
      </p:sp>
      <p:sp>
        <p:nvSpPr>
          <p:cNvPr id="6" name="Text 4"/>
          <p:cNvSpPr txBox="1"/>
          <p:nvPr/>
        </p:nvSpPr>
        <p:spPr>
          <a:xfrm>
            <a:off x="7589520" y="2148840"/>
            <a:ext cx="1737360" cy="457200"/>
          </a:xfrm>
          <a:prstGeom prst="rect">
            <a:avLst/>
          </a:prstGeom>
          <a:noFill/>
          <a:ln/>
        </p:spPr>
        <p:txBody>
          <a:bodyPr wrap="square" lIns="0" tIns="0" rIns="0" bIns="0" rtlCol="0" anchor="t"/>
          <a:lstStyle/>
          <a:p>
            <a:pPr indent="0" marL="0">
              <a:buNone/>
            </a:pPr>
            <a:r>
              <a:rPr lang="en-US" sz="1200" dirty="0">
                <a:solidFill>
                  <a:schemeClr val="tx2"/>
                </a:solidFill>
              </a:rPr>
              <a:t>raw scraped listings</a:t>
            </a:r>
            <a:endParaRPr lang="en-US" sz="1200" dirty="0"/>
          </a:p>
        </p:txBody>
      </p:sp>
      <p:sp>
        <p:nvSpPr>
          <p:cNvPr id="7" name="stat card clean residential rows"/>
          <p:cNvSpPr/>
          <p:nvPr/>
        </p:nvSpPr>
        <p:spPr>
          <a:xfrm>
            <a:off x="9646920" y="1417320"/>
            <a:ext cx="2011680" cy="1234440"/>
          </a:xfrm>
          <a:prstGeom prst="roundRect">
            <a:avLst>
              <a:gd name="adj" fmla="val 5926"/>
            </a:avLst>
          </a:prstGeom>
          <a:solidFill>
            <a:schemeClr val="bg2"/>
          </a:solidFill>
          <a:ln w="12700">
            <a:solidFill>
              <a:schemeClr val="bg2"/>
            </a:solidFill>
            <a:prstDash val="solid"/>
          </a:ln>
        </p:spPr>
      </p:sp>
      <p:sp>
        <p:nvSpPr>
          <p:cNvPr id="8" name="Text 6"/>
          <p:cNvSpPr txBox="1"/>
          <p:nvPr/>
        </p:nvSpPr>
        <p:spPr>
          <a:xfrm>
            <a:off x="9829800" y="1508760"/>
            <a:ext cx="1645920" cy="64008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57,421</a:t>
            </a:r>
            <a:endParaRPr lang="en-US" sz="3000" dirty="0"/>
          </a:p>
        </p:txBody>
      </p:sp>
      <p:sp>
        <p:nvSpPr>
          <p:cNvPr id="9" name="Text 7"/>
          <p:cNvSpPr txBox="1"/>
          <p:nvPr/>
        </p:nvSpPr>
        <p:spPr>
          <a:xfrm>
            <a:off x="9829800" y="2148840"/>
            <a:ext cx="1645920" cy="457200"/>
          </a:xfrm>
          <a:prstGeom prst="rect">
            <a:avLst/>
          </a:prstGeom>
          <a:noFill/>
          <a:ln/>
        </p:spPr>
        <p:txBody>
          <a:bodyPr wrap="square" lIns="0" tIns="0" rIns="0" bIns="0" rtlCol="0" anchor="t"/>
          <a:lstStyle/>
          <a:p>
            <a:pPr indent="0" marL="0">
              <a:buNone/>
            </a:pPr>
            <a:r>
              <a:rPr lang="en-US" sz="1200" dirty="0">
                <a:solidFill>
                  <a:schemeClr val="tx2"/>
                </a:solidFill>
              </a:rPr>
              <a:t>clean residential rows</a:t>
            </a:r>
            <a:endParaRPr lang="en-US" sz="1200" dirty="0"/>
          </a:p>
        </p:txBody>
      </p:sp>
      <p:sp>
        <p:nvSpPr>
          <p:cNvPr id="10" name="stat card engineered features"/>
          <p:cNvSpPr/>
          <p:nvPr/>
        </p:nvSpPr>
        <p:spPr>
          <a:xfrm>
            <a:off x="7406640" y="2788920"/>
            <a:ext cx="2103120" cy="1234440"/>
          </a:xfrm>
          <a:prstGeom prst="roundRect">
            <a:avLst>
              <a:gd name="adj" fmla="val 5926"/>
            </a:avLst>
          </a:prstGeom>
          <a:solidFill>
            <a:schemeClr val="bg2"/>
          </a:solidFill>
          <a:ln w="12700">
            <a:solidFill>
              <a:schemeClr val="bg2"/>
            </a:solidFill>
            <a:prstDash val="solid"/>
          </a:ln>
        </p:spPr>
      </p:sp>
      <p:sp>
        <p:nvSpPr>
          <p:cNvPr id="11" name="Text 9"/>
          <p:cNvSpPr txBox="1"/>
          <p:nvPr/>
        </p:nvSpPr>
        <p:spPr>
          <a:xfrm>
            <a:off x="7589520" y="2880360"/>
            <a:ext cx="1737360" cy="64008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55</a:t>
            </a:r>
            <a:endParaRPr lang="en-US" sz="3000" dirty="0"/>
          </a:p>
        </p:txBody>
      </p:sp>
      <p:sp>
        <p:nvSpPr>
          <p:cNvPr id="12" name="Text 10"/>
          <p:cNvSpPr txBox="1"/>
          <p:nvPr/>
        </p:nvSpPr>
        <p:spPr>
          <a:xfrm>
            <a:off x="7589520" y="3520440"/>
            <a:ext cx="1737360" cy="457200"/>
          </a:xfrm>
          <a:prstGeom prst="rect">
            <a:avLst/>
          </a:prstGeom>
          <a:noFill/>
          <a:ln/>
        </p:spPr>
        <p:txBody>
          <a:bodyPr wrap="square" lIns="0" tIns="0" rIns="0" bIns="0" rtlCol="0" anchor="t"/>
          <a:lstStyle/>
          <a:p>
            <a:pPr indent="0" marL="0">
              <a:buNone/>
            </a:pPr>
            <a:r>
              <a:rPr lang="en-US" sz="1200" dirty="0">
                <a:solidFill>
                  <a:schemeClr val="tx2"/>
                </a:solidFill>
              </a:rPr>
              <a:t>engineered features</a:t>
            </a:r>
            <a:endParaRPr lang="en-US" sz="1200" dirty="0"/>
          </a:p>
        </p:txBody>
      </p:sp>
      <p:sp>
        <p:nvSpPr>
          <p:cNvPr id="13" name="stat card from-scratch models + bonus baselines"/>
          <p:cNvSpPr/>
          <p:nvPr/>
        </p:nvSpPr>
        <p:spPr>
          <a:xfrm>
            <a:off x="9646920" y="2788920"/>
            <a:ext cx="2011680" cy="1234440"/>
          </a:xfrm>
          <a:prstGeom prst="roundRect">
            <a:avLst>
              <a:gd name="adj" fmla="val 5926"/>
            </a:avLst>
          </a:prstGeom>
          <a:solidFill>
            <a:schemeClr val="bg2"/>
          </a:solidFill>
          <a:ln w="12700">
            <a:solidFill>
              <a:schemeClr val="bg2"/>
            </a:solidFill>
            <a:prstDash val="solid"/>
          </a:ln>
        </p:spPr>
      </p:sp>
      <p:sp>
        <p:nvSpPr>
          <p:cNvPr id="14" name="Text 12"/>
          <p:cNvSpPr txBox="1"/>
          <p:nvPr/>
        </p:nvSpPr>
        <p:spPr>
          <a:xfrm>
            <a:off x="9829800" y="2880360"/>
            <a:ext cx="1645920" cy="64008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2 + 2</a:t>
            </a:r>
            <a:endParaRPr lang="en-US" sz="3000" dirty="0"/>
          </a:p>
        </p:txBody>
      </p:sp>
      <p:sp>
        <p:nvSpPr>
          <p:cNvPr id="15" name="Text 13"/>
          <p:cNvSpPr txBox="1"/>
          <p:nvPr/>
        </p:nvSpPr>
        <p:spPr>
          <a:xfrm>
            <a:off x="9829800" y="3520440"/>
            <a:ext cx="1645920" cy="457200"/>
          </a:xfrm>
          <a:prstGeom prst="rect">
            <a:avLst/>
          </a:prstGeom>
          <a:noFill/>
          <a:ln/>
        </p:spPr>
        <p:txBody>
          <a:bodyPr wrap="square" lIns="0" tIns="0" rIns="0" bIns="0" rtlCol="0" anchor="t"/>
          <a:lstStyle/>
          <a:p>
            <a:pPr indent="0" marL="0">
              <a:buNone/>
            </a:pPr>
            <a:r>
              <a:rPr lang="en-US" sz="1200" dirty="0">
                <a:solidFill>
                  <a:schemeClr val="tx2"/>
                </a:solidFill>
              </a:rPr>
              <a:t>from-scratch models + bonus baselines</a:t>
            </a:r>
            <a:endParaRPr lang="en-US" sz="1200" dirty="0"/>
          </a:p>
        </p:txBody>
      </p:sp>
      <p:sp>
        <p:nvSpPr>
          <p:cNvPr id="16" name="stat card gap to scikit-learn on both tasks (preview of the result)"/>
          <p:cNvSpPr/>
          <p:nvPr/>
        </p:nvSpPr>
        <p:spPr>
          <a:xfrm>
            <a:off x="7406640" y="4160520"/>
            <a:ext cx="4251960" cy="1234440"/>
          </a:xfrm>
          <a:prstGeom prst="roundRect">
            <a:avLst>
              <a:gd name="adj" fmla="val 5926"/>
            </a:avLst>
          </a:prstGeom>
          <a:solidFill>
            <a:schemeClr val="bg2"/>
          </a:solidFill>
          <a:ln w="12700">
            <a:solidFill>
              <a:schemeClr val="bg2"/>
            </a:solidFill>
            <a:prstDash val="solid"/>
          </a:ln>
        </p:spPr>
      </p:sp>
      <p:sp>
        <p:nvSpPr>
          <p:cNvPr id="17" name="Text 15"/>
          <p:cNvSpPr txBox="1"/>
          <p:nvPr/>
        </p:nvSpPr>
        <p:spPr>
          <a:xfrm>
            <a:off x="7589520" y="4251960"/>
            <a:ext cx="3886200" cy="640080"/>
          </a:xfrm>
          <a:prstGeom prst="rect">
            <a:avLst/>
          </a:prstGeom>
          <a:noFill/>
          <a:ln/>
        </p:spPr>
        <p:txBody>
          <a:bodyPr wrap="square" lIns="0" tIns="0" rIns="0" bIns="0" rtlCol="0" anchor="t"/>
          <a:lstStyle/>
          <a:p>
            <a:pPr indent="0" marL="0">
              <a:buNone/>
            </a:pPr>
            <a:r>
              <a:rPr lang="en-US" sz="3000" b="1" dirty="0">
                <a:solidFill>
                  <a:schemeClr val="accent3"/>
                </a:solidFill>
                <a:latin typeface="Cambria" pitchFamily="34" charset="0"/>
                <a:ea typeface="Cambria" pitchFamily="34" charset="-122"/>
                <a:cs typeface="Cambria" pitchFamily="34" charset="-120"/>
              </a:rPr>
              <a:t>≈ 0.002</a:t>
            </a:r>
            <a:endParaRPr lang="en-US" sz="3000" dirty="0"/>
          </a:p>
        </p:txBody>
      </p:sp>
      <p:sp>
        <p:nvSpPr>
          <p:cNvPr id="18" name="Text 16"/>
          <p:cNvSpPr txBox="1"/>
          <p:nvPr/>
        </p:nvSpPr>
        <p:spPr>
          <a:xfrm>
            <a:off x="7589520" y="4892040"/>
            <a:ext cx="3886200" cy="457200"/>
          </a:xfrm>
          <a:prstGeom prst="rect">
            <a:avLst/>
          </a:prstGeom>
          <a:noFill/>
          <a:ln/>
        </p:spPr>
        <p:txBody>
          <a:bodyPr wrap="square" lIns="0" tIns="0" rIns="0" bIns="0" rtlCol="0" anchor="t"/>
          <a:lstStyle/>
          <a:p>
            <a:pPr indent="0" marL="0">
              <a:buNone/>
            </a:pPr>
            <a:r>
              <a:rPr lang="en-US" sz="1200" dirty="0">
                <a:solidFill>
                  <a:schemeClr val="tx2"/>
                </a:solidFill>
              </a:rPr>
              <a:t>gap to scikit-learn on both tasks (preview of the result)</a:t>
            </a:r>
            <a:endParaRPr lang="en-US" sz="1200" dirty="0"/>
          </a:p>
        </p:txBody>
      </p:sp>
      <p:sp>
        <p:nvSpPr>
          <p:cNvPr id="19"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20" name="Text 18"/>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Same features, same split, matched hyperparameters — then the comparison is fair and the number means something.</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Cleaning removed 43% of rows — every rule is fixed, documented and reproducible</a:t>
            </a:r>
            <a:endParaRPr lang="en-US" sz="2600" dirty="0"/>
          </a:p>
        </p:txBody>
      </p:sp>
      <p:graphicFrame>
        <p:nvGraphicFramePr>
          <p:cNvPr id="4" name="cleaning funnel"/>
          <p:cNvGraphicFramePr>
            <a:graphicFrameLocks noGrp="1"/>
          </p:cNvGraphicFramePr>
          <p:nvPr>
            <p:extLst>
              <p:ext uri="{D42A27DB-BD31-4B8C-83A1-F6EECF244321}">
                <p14:modId xmlns:p14="http://schemas.microsoft.com/office/powerpoint/2010/main" val="1579011935"/>
              </p:ext>
            </p:extLst>
          </p:nvPr>
        </p:nvGraphicFramePr>
        <p:xfrm>
          <a:off x="548640" y="1417320"/>
          <a:ext cx="6309360" cy="914400"/>
        </p:xfrm>
        <a:graphic>
          <a:graphicData uri="http://schemas.openxmlformats.org/drawingml/2006/table">
            <a:tbl>
              <a:tblPr/>
              <a:tblGrid>
                <a:gridCol w="457200"/>
                <a:gridCol w="4754880"/>
                <a:gridCol w="1097280"/>
              </a:tblGrid>
              <a:tr h="384048">
                <a:tc>
                  <a:txBody>
                    <a:bodyPr/>
                    <a:lstStyle/>
                    <a:p>
                      <a:pPr indent="0" marL="0">
                        <a:buNone/>
                      </a:pPr>
                      <a:r>
                        <a:rPr lang="en-US" sz="1150" b="1" dirty="0">
                          <a:solidFill>
                            <a:srgbClr val="FFFFFF"/>
                          </a:solidFill>
                        </a:rPr>
                        <a:t>Step</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indent="0" marL="0">
                        <a:buNone/>
                      </a:pPr>
                      <a:r>
                        <a:rPr lang="en-US" sz="1150" b="1" dirty="0">
                          <a:solidFill>
                            <a:srgbClr val="FFFFFF"/>
                          </a:solidFill>
                        </a:rPr>
                        <a:t>Rule</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r" indent="0" marL="0">
                        <a:buNone/>
                      </a:pPr>
                      <a:r>
                        <a:rPr lang="en-US" sz="1150" b="1" dirty="0">
                          <a:solidFill>
                            <a:srgbClr val="FFFFFF"/>
                          </a:solidFill>
                        </a:rPr>
                        <a:t>Rows</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r>
              <a:tr h="384048">
                <a:tc>
                  <a:txBody>
                    <a:bodyPr/>
                    <a:lstStyle/>
                    <a:p>
                      <a:pPr indent="0" marL="0">
                        <a:buNone/>
                      </a:pPr>
                      <a:r>
                        <a:rPr lang="en-US" sz="1150" dirty="0">
                          <a:solidFill>
                            <a:srgbClr val="1B2A41"/>
                          </a:solidFill>
                        </a:rPr>
                        <a:t>0</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B2A41"/>
                          </a:solidFill>
                        </a:rPr>
                        <a:t>Raw Kaggle dump (51 columns, all prices AZN — asserted in code)</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150" dirty="0">
                          <a:solidFill>
                            <a:srgbClr val="1B2A41"/>
                          </a:solidFill>
                        </a:rPr>
                        <a:t>100,775</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150" dirty="0">
                          <a:solidFill>
                            <a:srgbClr val="1B2A41"/>
                          </a:solidFill>
                        </a:rPr>
                        <a:t>1</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B2A41"/>
                          </a:solidFill>
                        </a:rPr>
                        <a:t>Keep the latest scrape per listing URL (scraper revisits)</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150" dirty="0">
                          <a:solidFill>
                            <a:srgbClr val="1B2A41"/>
                          </a:solidFill>
                        </a:rPr>
                        <a:t>64,454</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150" dirty="0">
                          <a:solidFill>
                            <a:srgbClr val="1B2A41"/>
                          </a:solidFill>
                        </a:rPr>
                        <a:t>2</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B2A41"/>
                          </a:solidFill>
                        </a:rPr>
                        <a:t>Residential only: new build, old stock, house / garden house</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150" dirty="0">
                          <a:solidFill>
                            <a:srgbClr val="1B2A41"/>
                          </a:solidFill>
                        </a:rPr>
                        <a:t>58,452</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150" dirty="0">
                          <a:solidFill>
                            <a:srgbClr val="1B2A41"/>
                          </a:solidFill>
                        </a:rPr>
                        <a:t>3</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B2A41"/>
                          </a:solidFill>
                        </a:rPr>
                        <a:t>Parse Azerbaijani strings: “145 m²”, “7 / 9”, “1.3 sot” → numbers</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150" dirty="0">
                          <a:solidFill>
                            <a:srgbClr val="1B2A41"/>
                          </a:solidFill>
                        </a:rPr>
                        <a:t>58,452</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150" dirty="0">
                          <a:solidFill>
                            <a:srgbClr val="1B2A41"/>
                          </a:solidFill>
                        </a:rPr>
                        <a:t>4</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B2A41"/>
                          </a:solidFill>
                        </a:rPr>
                        <a:t>Fixed validity bounds: price 10k–3M, area 15–800 m², coords in AZ</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150" dirty="0">
                          <a:solidFill>
                            <a:srgbClr val="1B2A41"/>
                          </a:solidFill>
                        </a:rPr>
                        <a:t>58,110</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150" dirty="0">
                          <a:solidFill>
                            <a:srgbClr val="1B2A41"/>
                          </a:solidFill>
                        </a:rPr>
                        <a:t>5</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indent="0" marL="0">
                        <a:buNone/>
                      </a:pPr>
                      <a:r>
                        <a:rPr lang="en-US" sz="1150" dirty="0">
                          <a:solidFill>
                            <a:srgbClr val="1B2A41"/>
                          </a:solidFill>
                        </a:rPr>
                        <a:t>Drop exact repost duplicates</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r" indent="0" marL="0">
                        <a:buNone/>
                      </a:pPr>
                      <a:r>
                        <a:rPr lang="en-US" sz="1150" b="1" dirty="0">
                          <a:solidFill>
                            <a:srgbClr val="0072B2"/>
                          </a:solidFill>
                        </a:rPr>
                        <a:t>57,421</a:t>
                      </a:r>
                      <a:endParaRPr lang="en-US" sz="11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4" name="Text 1"/>
          <p:cNvSpPr txBox="1"/>
          <p:nvPr/>
        </p:nvSpPr>
        <p:spPr>
          <a:xfrm>
            <a:off x="548640" y="4343400"/>
            <a:ext cx="6309360" cy="822960"/>
          </a:xfrm>
          <a:prstGeom prst="rect">
            <a:avLst/>
          </a:prstGeom>
          <a:noFill/>
          <a:ln/>
        </p:spPr>
        <p:txBody>
          <a:bodyPr wrap="square" lIns="0" tIns="0" rIns="0" bIns="0" rtlCol="0" anchor="t"/>
          <a:lstStyle/>
          <a:p>
            <a:pPr indent="0" marL="0">
              <a:buNone/>
            </a:pPr>
            <a:r>
              <a:rPr lang="en-US" sz="1250" i="1" dirty="0">
                <a:solidFill>
                  <a:schemeClr val="tx2"/>
                </a:solidFill>
              </a:rPr>
              <a:t>Missing values: constant + explicit “is-missing” indicator. No mean/median imputation, no quantile filters — nothing fitted that could leak from val/test.</a:t>
            </a:r>
            <a:endParaRPr lang="en-US" sz="1250" dirty="0"/>
          </a:p>
        </p:txBody>
      </p:sp>
      <p:pic>
        <p:nvPicPr>
          <p:cNvPr id="5" name="EDA figure" descr="C:/Users/HP/Desktop/ML_Final_Project_Starter_08.10.2026/ML_Final_Project_Starter/report/figures/fig_eda.png">    </p:cNvPr>
          <p:cNvPicPr>
            <a:picLocks noChangeAspect="1"/>
          </p:cNvPicPr>
          <p:nvPr/>
        </p:nvPicPr>
        <p:blipFill>
          <a:blip r:embed="rId1"/>
          <a:stretch>
            <a:fillRect/>
          </a:stretch>
        </p:blipFill>
        <p:spPr>
          <a:xfrm>
            <a:off x="7132320" y="1623060"/>
            <a:ext cx="4526280" cy="3520440"/>
          </a:xfrm>
          <a:prstGeom prst="rect">
            <a:avLst/>
          </a:prstGeom>
        </p:spPr>
      </p:pic>
      <p:sp>
        <p:nvSpPr>
          <p:cNvPr id="6"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7" name="Text 3"/>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Rules, not statistics: a fixed bound is a decision made before any split exists, so it cannot leak.</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Two columns were arithmetic functions of the target — dropped before any model saw them</a:t>
            </a:r>
            <a:endParaRPr lang="en-US" sz="2600" dirty="0"/>
          </a:p>
        </p:txBody>
      </p:sp>
      <p:sp>
        <p:nvSpPr>
          <p:cNvPr id="3" name="card Target leakage — dropped"/>
          <p:cNvSpPr/>
          <p:nvPr/>
        </p:nvSpPr>
        <p:spPr>
          <a:xfrm>
            <a:off x="548640" y="1417320"/>
            <a:ext cx="3566160" cy="2011680"/>
          </a:xfrm>
          <a:prstGeom prst="roundRect">
            <a:avLst>
              <a:gd name="adj" fmla="val 3636"/>
            </a:avLst>
          </a:prstGeom>
          <a:solidFill>
            <a:schemeClr val="bg2"/>
          </a:solidFill>
          <a:ln w="12700">
            <a:solidFill>
              <a:schemeClr val="bg2"/>
            </a:solidFill>
            <a:prstDash val="solid"/>
          </a:ln>
        </p:spPr>
      </p:sp>
      <p:sp>
        <p:nvSpPr>
          <p:cNvPr id="4" name="Text 2"/>
          <p:cNvSpPr txBox="1"/>
          <p:nvPr/>
        </p:nvSpPr>
        <p:spPr>
          <a:xfrm>
            <a:off x="731520" y="1554480"/>
            <a:ext cx="3200400" cy="365760"/>
          </a:xfrm>
          <a:prstGeom prst="rect">
            <a:avLst/>
          </a:prstGeom>
          <a:noFill/>
          <a:ln/>
        </p:spPr>
        <p:txBody>
          <a:bodyPr wrap="square" lIns="0" tIns="0" rIns="0" bIns="0" rtlCol="0" anchor="t"/>
          <a:lstStyle/>
          <a:p>
            <a:pPr indent="0" marL="0">
              <a:buNone/>
            </a:pPr>
            <a:r>
              <a:rPr lang="en-US" sz="1500" b="1" dirty="0">
                <a:solidFill>
                  <a:schemeClr val="accent4"/>
                </a:solidFill>
              </a:rPr>
              <a:t>Target leakage — dropped</a:t>
            </a:r>
            <a:endParaRPr lang="en-US" sz="1500" dirty="0"/>
          </a:p>
        </p:txBody>
      </p:sp>
      <p:sp>
        <p:nvSpPr>
          <p:cNvPr id="5" name="Text 3"/>
          <p:cNvSpPr txBox="1"/>
          <p:nvPr/>
        </p:nvSpPr>
        <p:spPr>
          <a:xfrm>
            <a:off x="731520" y="1947672"/>
            <a:ext cx="3200400" cy="1371600"/>
          </a:xfrm>
          <a:prstGeom prst="rect">
            <a:avLst/>
          </a:prstGeom>
          <a:noFill/>
          <a:ln/>
        </p:spPr>
        <p:txBody>
          <a:bodyPr wrap="square" lIns="0" tIns="0" rIns="0" bIns="0" rtlCol="0" anchor="t"/>
          <a:lstStyle/>
          <a:p>
            <a:pPr indent="0" marL="0">
              <a:buNone/>
            </a:pPr>
            <a:r>
              <a:rPr lang="en-US" sz="1250" dirty="0">
                <a:solidFill>
                  <a:schemeClr val="tx1"/>
                </a:solidFill>
              </a:rPr>
              <a:t>unit_price = price / area</a:t>
            </a:r>
            <a:endParaRPr lang="en-US" sz="1250" dirty="0"/>
          </a:p>
          <a:p>
            <a:pPr indent="0" marL="0">
              <a:buNone/>
            </a:pPr>
            <a:r>
              <a:rPr lang="en-US" sz="1250" dirty="0">
                <a:solidFill>
                  <a:schemeClr val="tx1"/>
                </a:solidFill>
              </a:rPr>
              <a:t>total_price = price restated (equal in 99.99% of rows)</a:t>
            </a:r>
            <a:endParaRPr lang="en-US" sz="1250" dirty="0"/>
          </a:p>
          <a:p>
            <a:pPr indent="0" marL="0">
              <a:buNone/>
            </a:pPr>
            <a:endParaRPr lang="en-US" sz="1250" dirty="0"/>
          </a:p>
          <a:p>
            <a:pPr indent="0" marL="0">
              <a:buNone/>
            </a:pPr>
            <a:r>
              <a:rPr lang="en-US" sz="1250" dirty="0">
                <a:solidFill>
                  <a:schemeClr val="tx1"/>
                </a:solidFill>
              </a:rPr>
              <a:t>Using them gives a perfect validation score and a useless model.</a:t>
            </a:r>
            <a:endParaRPr lang="en-US" sz="1250" dirty="0"/>
          </a:p>
        </p:txBody>
      </p:sp>
      <p:sp>
        <p:nvSpPr>
          <p:cNvPr id="6" name="card Also dropped"/>
          <p:cNvSpPr/>
          <p:nvPr/>
        </p:nvSpPr>
        <p:spPr>
          <a:xfrm>
            <a:off x="548640" y="3611880"/>
            <a:ext cx="3566160" cy="1920240"/>
          </a:xfrm>
          <a:prstGeom prst="roundRect">
            <a:avLst>
              <a:gd name="adj" fmla="val 3810"/>
            </a:avLst>
          </a:prstGeom>
          <a:solidFill>
            <a:schemeClr val="bg2"/>
          </a:solidFill>
          <a:ln w="12700">
            <a:solidFill>
              <a:schemeClr val="bg2"/>
            </a:solidFill>
            <a:prstDash val="solid"/>
          </a:ln>
        </p:spPr>
      </p:sp>
      <p:sp>
        <p:nvSpPr>
          <p:cNvPr id="7" name="Text 5"/>
          <p:cNvSpPr txBox="1"/>
          <p:nvPr/>
        </p:nvSpPr>
        <p:spPr>
          <a:xfrm>
            <a:off x="731520" y="3749040"/>
            <a:ext cx="3200400" cy="365760"/>
          </a:xfrm>
          <a:prstGeom prst="rect">
            <a:avLst/>
          </a:prstGeom>
          <a:noFill/>
          <a:ln/>
        </p:spPr>
        <p:txBody>
          <a:bodyPr wrap="square" lIns="0" tIns="0" rIns="0" bIns="0" rtlCol="0" anchor="t"/>
          <a:lstStyle/>
          <a:p>
            <a:pPr indent="0" marL="0">
              <a:buNone/>
            </a:pPr>
            <a:r>
              <a:rPr lang="en-US" sz="1500" b="1" dirty="0">
                <a:solidFill>
                  <a:schemeClr val="tx2"/>
                </a:solidFill>
              </a:rPr>
              <a:t>Also dropped</a:t>
            </a:r>
            <a:endParaRPr lang="en-US" sz="1500" dirty="0"/>
          </a:p>
        </p:txBody>
      </p:sp>
      <p:sp>
        <p:nvSpPr>
          <p:cNvPr id="8" name="Text 6"/>
          <p:cNvSpPr txBox="1"/>
          <p:nvPr/>
        </p:nvSpPr>
        <p:spPr>
          <a:xfrm>
            <a:off x="731520" y="4142232"/>
            <a:ext cx="3200400" cy="1280160"/>
          </a:xfrm>
          <a:prstGeom prst="rect">
            <a:avLst/>
          </a:prstGeom>
          <a:noFill/>
          <a:ln/>
        </p:spPr>
        <p:txBody>
          <a:bodyPr wrap="square" lIns="0" tIns="0" rIns="0" bIns="0" rtlCol="0" anchor="t"/>
          <a:lstStyle/>
          <a:p>
            <a:pPr indent="0" marL="0">
              <a:buNone/>
            </a:pPr>
            <a:r>
              <a:rPr lang="en-US" sz="1250" dirty="0">
                <a:solidFill>
                  <a:schemeClr val="tx1"/>
                </a:solidFill>
              </a:rPr>
              <a:t>Identifiers, owner / shop names, address, free text, URLs, scrape timestamps; views / vip / featured — consequences of the listing, not traits of the flat.</a:t>
            </a:r>
            <a:endParaRPr lang="en-US" sz="1250" dirty="0"/>
          </a:p>
        </p:txBody>
      </p:sp>
      <p:sp>
        <p:nvSpPr>
          <p:cNvPr id="9" name="card 55 features kept"/>
          <p:cNvSpPr/>
          <p:nvPr/>
        </p:nvSpPr>
        <p:spPr>
          <a:xfrm>
            <a:off x="4343400" y="1417320"/>
            <a:ext cx="3566160" cy="4114800"/>
          </a:xfrm>
          <a:prstGeom prst="roundRect">
            <a:avLst>
              <a:gd name="adj" fmla="val 2051"/>
            </a:avLst>
          </a:prstGeom>
          <a:solidFill>
            <a:schemeClr val="bg2"/>
          </a:solidFill>
          <a:ln w="12700">
            <a:solidFill>
              <a:schemeClr val="bg2"/>
            </a:solidFill>
            <a:prstDash val="solid"/>
          </a:ln>
        </p:spPr>
      </p:sp>
      <p:sp>
        <p:nvSpPr>
          <p:cNvPr id="10" name="Text 8"/>
          <p:cNvSpPr txBox="1"/>
          <p:nvPr/>
        </p:nvSpPr>
        <p:spPr>
          <a:xfrm>
            <a:off x="4526280" y="1554480"/>
            <a:ext cx="3200400" cy="365760"/>
          </a:xfrm>
          <a:prstGeom prst="rect">
            <a:avLst/>
          </a:prstGeom>
          <a:noFill/>
          <a:ln/>
        </p:spPr>
        <p:txBody>
          <a:bodyPr wrap="square" lIns="0" tIns="0" rIns="0" bIns="0" rtlCol="0" anchor="t"/>
          <a:lstStyle/>
          <a:p>
            <a:pPr indent="0" marL="0">
              <a:buNone/>
            </a:pPr>
            <a:r>
              <a:rPr lang="en-US" sz="1500" b="1" dirty="0">
                <a:solidFill>
                  <a:schemeClr val="accent2"/>
                </a:solidFill>
              </a:rPr>
              <a:t>55 features kept</a:t>
            </a:r>
            <a:endParaRPr lang="en-US" sz="1500" dirty="0"/>
          </a:p>
        </p:txBody>
      </p:sp>
      <p:sp>
        <p:nvSpPr>
          <p:cNvPr id="11" name="Text 9"/>
          <p:cNvSpPr txBox="1"/>
          <p:nvPr/>
        </p:nvSpPr>
        <p:spPr>
          <a:xfrm>
            <a:off x="4526280" y="1947672"/>
            <a:ext cx="3200400" cy="3474720"/>
          </a:xfrm>
          <a:prstGeom prst="rect">
            <a:avLst/>
          </a:prstGeom>
          <a:noFill/>
          <a:ln/>
        </p:spPr>
        <p:txBody>
          <a:bodyPr wrap="square" lIns="0" tIns="0" rIns="0" bIns="0" rtlCol="0" anchor="t"/>
          <a:lstStyle/>
          <a:p>
            <a:pPr indent="0" marL="0">
              <a:buNone/>
            </a:pPr>
            <a:r>
              <a:rPr lang="en-US" sz="1250" dirty="0">
                <a:solidFill>
                  <a:schemeClr val="tx1"/>
                </a:solidFill>
              </a:rPr>
              <a:t>Numeric (9): area, rooms, floor, building floors, floor ratio, land area, lat, lng, distance to Fountains Square (haversine).</a:t>
            </a:r>
            <a:endParaRPr lang="en-US" sz="1250" dirty="0"/>
          </a:p>
          <a:p>
            <a:pPr indent="0" marL="0">
              <a:buNone/>
            </a:pPr>
            <a:endParaRPr lang="en-US" sz="1250" dirty="0"/>
          </a:p>
          <a:p>
            <a:pPr indent="0" marL="0">
              <a:buNone/>
            </a:pPr>
            <a:r>
              <a:rPr lang="en-US" sz="1250" dirty="0">
                <a:solidFill>
                  <a:schemeClr val="tx1"/>
                </a:solidFill>
              </a:rPr>
              <a:t>Binary flags (12): repaired, bill of sale, mortgage, agent-listed, agency, top / ground floor, Baku, has land, and is-missing indicators.</a:t>
            </a:r>
            <a:endParaRPr lang="en-US" sz="1250" dirty="0"/>
          </a:p>
          <a:p>
            <a:pPr indent="0" marL="0">
              <a:buNone/>
            </a:pPr>
            <a:endParaRPr lang="en-US" sz="1250" dirty="0"/>
          </a:p>
          <a:p>
            <a:pPr indent="0" marL="0">
              <a:buNone/>
            </a:pPr>
            <a:r>
              <a:rPr lang="en-US" sz="1250" dirty="0">
                <a:solidFill>
                  <a:schemeClr val="tx1"/>
                </a:solidFill>
              </a:rPr>
              <a:t>One-hot (34): 3 building categories; 30 most frequent districts + “other”.</a:t>
            </a:r>
            <a:endParaRPr lang="en-US" sz="1250" dirty="0"/>
          </a:p>
        </p:txBody>
      </p:sp>
      <p:sp>
        <p:nvSpPr>
          <p:cNvPr id="12" name="card Why one-hot, and fitted where?"/>
          <p:cNvSpPr/>
          <p:nvPr/>
        </p:nvSpPr>
        <p:spPr>
          <a:xfrm>
            <a:off x="8092440" y="1417320"/>
            <a:ext cx="3566160" cy="4114800"/>
          </a:xfrm>
          <a:prstGeom prst="roundRect">
            <a:avLst>
              <a:gd name="adj" fmla="val 2051"/>
            </a:avLst>
          </a:prstGeom>
          <a:solidFill>
            <a:schemeClr val="bg2"/>
          </a:solidFill>
          <a:ln w="12700">
            <a:solidFill>
              <a:schemeClr val="bg2"/>
            </a:solidFill>
            <a:prstDash val="solid"/>
          </a:ln>
        </p:spPr>
      </p:sp>
      <p:sp>
        <p:nvSpPr>
          <p:cNvPr id="13" name="Text 11"/>
          <p:cNvSpPr txBox="1"/>
          <p:nvPr/>
        </p:nvSpPr>
        <p:spPr>
          <a:xfrm>
            <a:off x="8275320" y="1554480"/>
            <a:ext cx="3200400" cy="365760"/>
          </a:xfrm>
          <a:prstGeom prst="rect">
            <a:avLst/>
          </a:prstGeom>
          <a:noFill/>
          <a:ln/>
        </p:spPr>
        <p:txBody>
          <a:bodyPr wrap="square" lIns="0" tIns="0" rIns="0" bIns="0" rtlCol="0" anchor="t"/>
          <a:lstStyle/>
          <a:p>
            <a:pPr indent="0" marL="0">
              <a:buNone/>
            </a:pPr>
            <a:r>
              <a:rPr lang="en-US" sz="1500" b="1" dirty="0">
                <a:solidFill>
                  <a:schemeClr val="accent3"/>
                </a:solidFill>
              </a:rPr>
              <a:t>Why one-hot, and fitted where?</a:t>
            </a:r>
            <a:endParaRPr lang="en-US" sz="1500" dirty="0"/>
          </a:p>
        </p:txBody>
      </p:sp>
      <p:sp>
        <p:nvSpPr>
          <p:cNvPr id="14" name="Text 12"/>
          <p:cNvSpPr txBox="1"/>
          <p:nvPr/>
        </p:nvSpPr>
        <p:spPr>
          <a:xfrm>
            <a:off x="8275320" y="1947672"/>
            <a:ext cx="3200400" cy="3474720"/>
          </a:xfrm>
          <a:prstGeom prst="rect">
            <a:avLst/>
          </a:prstGeom>
          <a:noFill/>
          <a:ln/>
        </p:spPr>
        <p:txBody>
          <a:bodyPr wrap="square" lIns="0" tIns="0" rIns="0" bIns="0" rtlCol="0" anchor="t"/>
          <a:lstStyle/>
          <a:p>
            <a:pPr indent="0" marL="0">
              <a:buNone/>
            </a:pPr>
            <a:r>
              <a:rPr lang="en-US" sz="1250" dirty="0">
                <a:solidFill>
                  <a:schemeClr val="tx1"/>
                </a:solidFill>
              </a:rPr>
              <a:t>Both models split on numeric thresholds; ordinal codes would impose a false order on districts.</a:t>
            </a:r>
            <a:endParaRPr lang="en-US" sz="1250" dirty="0"/>
          </a:p>
          <a:p>
            <a:pPr indent="0" marL="0">
              <a:buNone/>
            </a:pPr>
            <a:endParaRPr lang="en-US" sz="1250" dirty="0"/>
          </a:p>
          <a:p>
            <a:pPr indent="0" marL="0">
              <a:buNone/>
            </a:pPr>
            <a:r>
              <a:rPr lang="en-US" sz="1250" dirty="0">
                <a:solidFill>
                  <a:schemeClr val="tx1"/>
                </a:solidFill>
              </a:rPr>
              <a:t>The only data-dependent encoding choice — which 30 districts get a column — is fitted on the training rows alone.</a:t>
            </a:r>
            <a:endParaRPr lang="en-US" sz="1250" dirty="0"/>
          </a:p>
          <a:p>
            <a:pPr indent="0" marL="0">
              <a:buNone/>
            </a:pPr>
            <a:endParaRPr lang="en-US" sz="1250" dirty="0"/>
          </a:p>
          <a:p>
            <a:pPr indent="0" marL="0">
              <a:buNone/>
            </a:pPr>
            <a:r>
              <a:rPr lang="en-US" sz="1250" dirty="0">
                <a:solidFill>
                  <a:schemeClr val="tx1"/>
                </a:solidFill>
              </a:rPr>
              <a:t>All categorical text is NFC-normalised first so spelling variants collapse.</a:t>
            </a:r>
            <a:endParaRPr lang="en-US" sz="1250" dirty="0"/>
          </a:p>
        </p:txBody>
      </p:sp>
      <p:sp>
        <p:nvSpPr>
          <p:cNvPr id="15"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16" name="Text 14"/>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The statement promised to check for leakage; our feature matrix contains nothing computed from the answer.</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Stratified 70/15/15 split; every statistic is learned from the training rows only</a:t>
            </a:r>
            <a:endParaRPr lang="en-US" sz="2600" dirty="0"/>
          </a:p>
        </p:txBody>
      </p:sp>
      <p:sp>
        <p:nvSpPr>
          <p:cNvPr id="3" name="split TRAIN"/>
          <p:cNvSpPr/>
          <p:nvPr/>
        </p:nvSpPr>
        <p:spPr>
          <a:xfrm>
            <a:off x="548640" y="1508760"/>
            <a:ext cx="4846320" cy="1143000"/>
          </a:xfrm>
          <a:prstGeom prst="roundRect">
            <a:avLst>
              <a:gd name="adj" fmla="val 6400"/>
            </a:avLst>
          </a:prstGeom>
          <a:solidFill>
            <a:schemeClr val="accent2"/>
          </a:solidFill>
          <a:ln w="12700">
            <a:solidFill>
              <a:schemeClr val="accent2"/>
            </a:solidFill>
            <a:prstDash val="solid"/>
          </a:ln>
        </p:spPr>
      </p:sp>
      <p:sp>
        <p:nvSpPr>
          <p:cNvPr id="4" name="Text 2"/>
          <p:cNvSpPr txBox="1"/>
          <p:nvPr/>
        </p:nvSpPr>
        <p:spPr>
          <a:xfrm>
            <a:off x="731520" y="1645920"/>
            <a:ext cx="4480560" cy="365760"/>
          </a:xfrm>
          <a:prstGeom prst="rect">
            <a:avLst/>
          </a:prstGeom>
          <a:noFill/>
          <a:ln/>
        </p:spPr>
        <p:txBody>
          <a:bodyPr wrap="square" lIns="0" tIns="0" rIns="0" bIns="0" rtlCol="0" anchor="t"/>
          <a:lstStyle/>
          <a:p>
            <a:pPr indent="0" marL="0">
              <a:buNone/>
            </a:pPr>
            <a:r>
              <a:rPr lang="en-US" sz="1400" b="1" dirty="0">
                <a:solidFill>
                  <a:srgbClr val="FFFFFF"/>
                </a:solidFill>
              </a:rPr>
              <a:t>TRAIN  70%</a:t>
            </a:r>
            <a:endParaRPr lang="en-US" sz="1400" dirty="0"/>
          </a:p>
        </p:txBody>
      </p:sp>
      <p:sp>
        <p:nvSpPr>
          <p:cNvPr id="5" name="Text 3"/>
          <p:cNvSpPr txBox="1"/>
          <p:nvPr/>
        </p:nvSpPr>
        <p:spPr>
          <a:xfrm>
            <a:off x="731520" y="2057400"/>
            <a:ext cx="4480560" cy="411480"/>
          </a:xfrm>
          <a:prstGeom prst="rect">
            <a:avLst/>
          </a:prstGeom>
          <a:noFill/>
          <a:ln/>
        </p:spPr>
        <p:txBody>
          <a:bodyPr wrap="square" lIns="0" tIns="0" rIns="0" bIns="0" rtlCol="0" anchor="t"/>
          <a:lstStyle/>
          <a:p>
            <a:pPr indent="0" marL="0">
              <a:buNone/>
            </a:pPr>
            <a:r>
              <a:rPr lang="en-US" sz="1600" dirty="0">
                <a:solidFill>
                  <a:srgbClr val="FFFFFF"/>
                </a:solidFill>
              </a:rPr>
              <a:t>40,197 rows</a:t>
            </a:r>
            <a:endParaRPr lang="en-US" sz="1600" dirty="0"/>
          </a:p>
        </p:txBody>
      </p:sp>
      <p:sp>
        <p:nvSpPr>
          <p:cNvPr id="6" name="split VAL"/>
          <p:cNvSpPr/>
          <p:nvPr/>
        </p:nvSpPr>
        <p:spPr>
          <a:xfrm>
            <a:off x="5532120" y="1508760"/>
            <a:ext cx="1783080" cy="1143000"/>
          </a:xfrm>
          <a:prstGeom prst="roundRect">
            <a:avLst>
              <a:gd name="adj" fmla="val 6400"/>
            </a:avLst>
          </a:prstGeom>
          <a:solidFill>
            <a:schemeClr val="accent1"/>
          </a:solidFill>
          <a:ln w="12700">
            <a:solidFill>
              <a:schemeClr val="accent1"/>
            </a:solidFill>
            <a:prstDash val="solid"/>
          </a:ln>
        </p:spPr>
      </p:sp>
      <p:sp>
        <p:nvSpPr>
          <p:cNvPr id="7" name="Text 5"/>
          <p:cNvSpPr txBox="1"/>
          <p:nvPr/>
        </p:nvSpPr>
        <p:spPr>
          <a:xfrm>
            <a:off x="5715000" y="1645920"/>
            <a:ext cx="1417320" cy="365760"/>
          </a:xfrm>
          <a:prstGeom prst="rect">
            <a:avLst/>
          </a:prstGeom>
          <a:noFill/>
          <a:ln/>
        </p:spPr>
        <p:txBody>
          <a:bodyPr wrap="square" lIns="0" tIns="0" rIns="0" bIns="0" rtlCol="0" anchor="t"/>
          <a:lstStyle/>
          <a:p>
            <a:pPr indent="0" marL="0">
              <a:buNone/>
            </a:pPr>
            <a:r>
              <a:rPr lang="en-US" sz="1400" b="1" dirty="0">
                <a:solidFill>
                  <a:srgbClr val="FFFFFF"/>
                </a:solidFill>
              </a:rPr>
              <a:t>VAL  15%</a:t>
            </a:r>
            <a:endParaRPr lang="en-US" sz="1400" dirty="0"/>
          </a:p>
        </p:txBody>
      </p:sp>
      <p:sp>
        <p:nvSpPr>
          <p:cNvPr id="8" name="Text 6"/>
          <p:cNvSpPr txBox="1"/>
          <p:nvPr/>
        </p:nvSpPr>
        <p:spPr>
          <a:xfrm>
            <a:off x="5715000" y="2057400"/>
            <a:ext cx="1417320" cy="411480"/>
          </a:xfrm>
          <a:prstGeom prst="rect">
            <a:avLst/>
          </a:prstGeom>
          <a:noFill/>
          <a:ln/>
        </p:spPr>
        <p:txBody>
          <a:bodyPr wrap="square" lIns="0" tIns="0" rIns="0" bIns="0" rtlCol="0" anchor="t"/>
          <a:lstStyle/>
          <a:p>
            <a:pPr indent="0" marL="0">
              <a:buNone/>
            </a:pPr>
            <a:r>
              <a:rPr lang="en-US" sz="1600" dirty="0">
                <a:solidFill>
                  <a:srgbClr val="FFFFFF"/>
                </a:solidFill>
              </a:rPr>
              <a:t>8,612 rows</a:t>
            </a:r>
            <a:endParaRPr lang="en-US" sz="1600" dirty="0"/>
          </a:p>
        </p:txBody>
      </p:sp>
      <p:sp>
        <p:nvSpPr>
          <p:cNvPr id="9" name="split TEST"/>
          <p:cNvSpPr/>
          <p:nvPr/>
        </p:nvSpPr>
        <p:spPr>
          <a:xfrm>
            <a:off x="7452360" y="1508760"/>
            <a:ext cx="1783080" cy="1143000"/>
          </a:xfrm>
          <a:prstGeom prst="roundRect">
            <a:avLst>
              <a:gd name="adj" fmla="val 6400"/>
            </a:avLst>
          </a:prstGeom>
          <a:solidFill>
            <a:schemeClr val="accent4"/>
          </a:solidFill>
          <a:ln w="12700">
            <a:solidFill>
              <a:schemeClr val="accent4"/>
            </a:solidFill>
            <a:prstDash val="solid"/>
          </a:ln>
        </p:spPr>
      </p:sp>
      <p:sp>
        <p:nvSpPr>
          <p:cNvPr id="10" name="Text 8"/>
          <p:cNvSpPr txBox="1"/>
          <p:nvPr/>
        </p:nvSpPr>
        <p:spPr>
          <a:xfrm>
            <a:off x="7635240" y="1645920"/>
            <a:ext cx="1417320" cy="365760"/>
          </a:xfrm>
          <a:prstGeom prst="rect">
            <a:avLst/>
          </a:prstGeom>
          <a:noFill/>
          <a:ln/>
        </p:spPr>
        <p:txBody>
          <a:bodyPr wrap="square" lIns="0" tIns="0" rIns="0" bIns="0" rtlCol="0" anchor="t"/>
          <a:lstStyle/>
          <a:p>
            <a:pPr indent="0" marL="0">
              <a:buNone/>
            </a:pPr>
            <a:r>
              <a:rPr lang="en-US" sz="1400" b="1" dirty="0">
                <a:solidFill>
                  <a:srgbClr val="FFFFFF"/>
                </a:solidFill>
              </a:rPr>
              <a:t>TEST  15%</a:t>
            </a:r>
            <a:endParaRPr lang="en-US" sz="1400" dirty="0"/>
          </a:p>
        </p:txBody>
      </p:sp>
      <p:sp>
        <p:nvSpPr>
          <p:cNvPr id="11" name="Text 9"/>
          <p:cNvSpPr txBox="1"/>
          <p:nvPr/>
        </p:nvSpPr>
        <p:spPr>
          <a:xfrm>
            <a:off x="7635240" y="2057400"/>
            <a:ext cx="1417320" cy="411480"/>
          </a:xfrm>
          <a:prstGeom prst="rect">
            <a:avLst/>
          </a:prstGeom>
          <a:noFill/>
          <a:ln/>
        </p:spPr>
        <p:txBody>
          <a:bodyPr wrap="square" lIns="0" tIns="0" rIns="0" bIns="0" rtlCol="0" anchor="t"/>
          <a:lstStyle/>
          <a:p>
            <a:pPr indent="0" marL="0">
              <a:buNone/>
            </a:pPr>
            <a:r>
              <a:rPr lang="en-US" sz="1600" dirty="0">
                <a:solidFill>
                  <a:srgbClr val="FFFFFF"/>
                </a:solidFill>
              </a:rPr>
              <a:t>8,612 rows</a:t>
            </a:r>
            <a:endParaRPr lang="en-US" sz="1600" dirty="0"/>
          </a:p>
        </p:txBody>
      </p:sp>
      <p:sp>
        <p:nvSpPr>
          <p:cNvPr id="12" name="Text 10"/>
          <p:cNvSpPr txBox="1"/>
          <p:nvPr/>
        </p:nvSpPr>
        <p:spPr>
          <a:xfrm>
            <a:off x="548640" y="2788920"/>
            <a:ext cx="8686800" cy="365760"/>
          </a:xfrm>
          <a:prstGeom prst="rect">
            <a:avLst/>
          </a:prstGeom>
          <a:noFill/>
          <a:ln/>
        </p:spPr>
        <p:txBody>
          <a:bodyPr wrap="square" lIns="0" tIns="0" rIns="0" bIns="0" rtlCol="0" anchor="t"/>
          <a:lstStyle/>
          <a:p>
            <a:pPr indent="0" marL="0">
              <a:buNone/>
            </a:pPr>
            <a:r>
              <a:rPr lang="en-US" sz="1250" i="1" dirty="0">
                <a:solidFill>
                  <a:schemeClr val="tx2"/>
                </a:solidFill>
              </a:rPr>
              <a:t>Stratified on deciles of log(price): each decile is shuffled with seed 42 and cut 70 / 15 / 15.</a:t>
            </a:r>
            <a:endParaRPr lang="en-US" sz="1250" dirty="0"/>
          </a:p>
        </p:txBody>
      </p:sp>
      <p:graphicFrame>
        <p:nvGraphicFramePr>
          <p:cNvPr id="6" name="split balance"/>
          <p:cNvGraphicFramePr>
            <a:graphicFrameLocks noGrp="1"/>
          </p:cNvGraphicFramePr>
          <p:nvPr>
            <p:extLst>
              <p:ext uri="{D42A27DB-BD31-4B8C-83A1-F6EECF244321}">
                <p14:modId xmlns:p14="http://schemas.microsoft.com/office/powerpoint/2010/main" val="1579011935"/>
              </p:ext>
            </p:extLst>
          </p:nvPr>
        </p:nvGraphicFramePr>
        <p:xfrm>
          <a:off x="548640" y="3291840"/>
          <a:ext cx="5669280" cy="914400"/>
        </p:xfrm>
        <a:graphic>
          <a:graphicData uri="http://schemas.openxmlformats.org/drawingml/2006/table">
            <a:tbl>
              <a:tblPr/>
              <a:tblGrid>
                <a:gridCol w="2103120"/>
                <a:gridCol w="1188720"/>
                <a:gridCol w="1188720"/>
                <a:gridCol w="1188720"/>
              </a:tblGrid>
              <a:tr h="347472">
                <a:tc>
                  <a:txBody>
                    <a:bodyPr/>
                    <a:lstStyle/>
                    <a:p>
                      <a:pPr indent="0" marL="0">
                        <a:buNone/>
                      </a:pP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rPr>
                        <a:t>train</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rPr>
                        <a:t>val</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rPr>
                        <a:t>test</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r>
              <a:tr h="347472">
                <a:tc>
                  <a:txBody>
                    <a:bodyPr/>
                    <a:lstStyle/>
                    <a:p>
                      <a:pPr indent="0" marL="0">
                        <a:buNone/>
                      </a:pPr>
                      <a:r>
                        <a:rPr lang="en-US" sz="1200" dirty="0">
                          <a:solidFill>
                            <a:srgbClr val="1B2A41"/>
                          </a:solidFill>
                        </a:rPr>
                        <a:t>median log(price)</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12.2453</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12.2453</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12.2453</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47472">
                <a:tc>
                  <a:txBody>
                    <a:bodyPr/>
                    <a:lstStyle/>
                    <a:p>
                      <a:pPr indent="0" marL="0">
                        <a:buNone/>
                      </a:pPr>
                      <a:r>
                        <a:rPr lang="en-US" sz="1200" dirty="0">
                          <a:solidFill>
                            <a:srgbClr val="1B2A41"/>
                          </a:solidFill>
                        </a:rPr>
                        <a:t>premium share</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49.9%</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49.8%</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49.8%</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14" name="Text 11"/>
          <p:cNvSpPr txBox="1"/>
          <p:nvPr/>
        </p:nvSpPr>
        <p:spPr>
          <a:xfrm>
            <a:off x="6492240" y="3246120"/>
            <a:ext cx="5166360" cy="22860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Tier threshold = train median only (208,000 AZN); val/test reuse it.</a:t>
            </a:r>
            <a:endParaRPr lang="en-US" sz="1250" dirty="0"/>
          </a:p>
          <a:p>
            <a:pPr marL="342900" indent="-342900">
              <a:spcAft>
                <a:spcPts val="600"/>
              </a:spcAft>
              <a:buSzPct val="100000"/>
              <a:buChar char="•"/>
            </a:pPr>
            <a:r>
              <a:rPr lang="en-US" sz="1250" dirty="0">
                <a:solidFill>
                  <a:schemeClr val="tx1"/>
                </a:solidFill>
              </a:rPr>
              <a:t>Scaler, district vocabulary, every hyperparameter: fitted / chosen on train + validation.</a:t>
            </a:r>
            <a:endParaRPr lang="en-US" sz="1250" dirty="0"/>
          </a:p>
          <a:p>
            <a:pPr marL="342900" indent="-342900">
              <a:spcAft>
                <a:spcPts val="600"/>
              </a:spcAft>
              <a:buSzPct val="100000"/>
              <a:buChar char="•"/>
            </a:pPr>
            <a:r>
              <a:rPr lang="en-US" sz="1250" dirty="0">
                <a:solidFill>
                  <a:schemeClr val="tx1"/>
                </a:solidFill>
              </a:rPr>
              <a:t>Test set touched once per final model. 5-fold CV on the train+val pool refits threshold and scaler inside every fold.</a:t>
            </a:r>
            <a:endParaRPr lang="en-US" sz="1250" dirty="0"/>
          </a:p>
          <a:p>
            <a:pPr marL="342900" indent="-342900">
              <a:spcAft>
                <a:spcPts val="600"/>
              </a:spcAft>
              <a:buSzPct val="100000"/>
              <a:buChar char="•"/>
            </a:pPr>
            <a:r>
              <a:rPr lang="en-US" sz="1250" dirty="0">
                <a:solidFill>
                  <a:schemeClr val="tx1"/>
                </a:solidFill>
              </a:rPr>
              <a:t>One command — python -m src.run_all — runs 10 sanity tests, then regenerates every number and figure (seed 42).</a:t>
            </a:r>
            <a:endParaRPr lang="en-US" sz="1250" dirty="0"/>
          </a:p>
        </p:txBody>
      </p:sp>
      <p:sp>
        <p:nvSpPr>
          <p:cNvPr id="15"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16" name="Text 13"/>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We cannot stratify on the tier label — it only exists once train and its median exist — so we stratify on price deciles, which matches both tasks.</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Our tree scores every candidate threshold of a feature in one vectorised pass</a:t>
            </a:r>
            <a:endParaRPr lang="en-US" sz="2600" dirty="0"/>
          </a:p>
        </p:txBody>
      </p:sp>
      <p:sp>
        <p:nvSpPr>
          <p:cNvPr id="3" name="card Split objective (sklearn weighting)"/>
          <p:cNvSpPr/>
          <p:nvPr/>
        </p:nvSpPr>
        <p:spPr>
          <a:xfrm>
            <a:off x="548640" y="1417320"/>
            <a:ext cx="3657600" cy="2057400"/>
          </a:xfrm>
          <a:prstGeom prst="roundRect">
            <a:avLst>
              <a:gd name="adj" fmla="val 3556"/>
            </a:avLst>
          </a:prstGeom>
          <a:solidFill>
            <a:schemeClr val="bg2"/>
          </a:solidFill>
          <a:ln w="12700">
            <a:solidFill>
              <a:schemeClr val="bg2"/>
            </a:solidFill>
            <a:prstDash val="solid"/>
          </a:ln>
        </p:spPr>
      </p:sp>
      <p:sp>
        <p:nvSpPr>
          <p:cNvPr id="4" name="Text 2"/>
          <p:cNvSpPr txBox="1"/>
          <p:nvPr/>
        </p:nvSpPr>
        <p:spPr>
          <a:xfrm>
            <a:off x="731520" y="1554480"/>
            <a:ext cx="3291840" cy="365760"/>
          </a:xfrm>
          <a:prstGeom prst="rect">
            <a:avLst/>
          </a:prstGeom>
          <a:noFill/>
          <a:ln/>
        </p:spPr>
        <p:txBody>
          <a:bodyPr wrap="square" lIns="0" tIns="0" rIns="0" bIns="0" rtlCol="0" anchor="t"/>
          <a:lstStyle/>
          <a:p>
            <a:pPr indent="0" marL="0">
              <a:buNone/>
            </a:pPr>
            <a:r>
              <a:rPr lang="en-US" sz="1500" b="1" dirty="0">
                <a:solidFill>
                  <a:schemeClr val="accent2"/>
                </a:solidFill>
              </a:rPr>
              <a:t>Split objective (sklearn weighting)</a:t>
            </a:r>
            <a:endParaRPr lang="en-US" sz="1500" dirty="0"/>
          </a:p>
        </p:txBody>
      </p:sp>
      <p:sp>
        <p:nvSpPr>
          <p:cNvPr id="5" name="Text 3"/>
          <p:cNvSpPr txBox="1"/>
          <p:nvPr/>
        </p:nvSpPr>
        <p:spPr>
          <a:xfrm>
            <a:off x="731520" y="1947672"/>
            <a:ext cx="3291840" cy="1417320"/>
          </a:xfrm>
          <a:prstGeom prst="rect">
            <a:avLst/>
          </a:prstGeom>
          <a:noFill/>
          <a:ln/>
        </p:spPr>
        <p:txBody>
          <a:bodyPr wrap="square" lIns="0" tIns="0" rIns="0" bIns="0" rtlCol="0" anchor="t"/>
          <a:lstStyle/>
          <a:p>
            <a:pPr indent="0" marL="0">
              <a:buNone/>
            </a:pPr>
            <a:r>
              <a:rPr lang="en-US" sz="1250" dirty="0">
                <a:solidFill>
                  <a:schemeClr val="tx1"/>
                </a:solidFill>
              </a:rPr>
              <a:t>Δ = N_node/N · [ I(node) − N_L/N_node · I(L) − N_R/N_node · I(R) ]</a:t>
            </a:r>
            <a:endParaRPr lang="en-US" sz="1250" dirty="0"/>
          </a:p>
          <a:p>
            <a:pPr indent="0" marL="0">
              <a:buNone/>
            </a:pPr>
            <a:endParaRPr lang="en-US" sz="1250" dirty="0"/>
          </a:p>
          <a:p>
            <a:pPr indent="0" marL="0">
              <a:buNone/>
            </a:pPr>
            <a:r>
              <a:rPr lang="en-US" sz="1250" dirty="0">
                <a:solidFill>
                  <a:schemeClr val="tx1"/>
                </a:solidFill>
              </a:rPr>
              <a:t>I = Gini 1 − Σ p_k²  ·  entropy −Σ p_k log₂ p_k  ·  MSE = variance</a:t>
            </a:r>
            <a:endParaRPr lang="en-US" sz="1250" dirty="0"/>
          </a:p>
        </p:txBody>
      </p:sp>
      <p:sp>
        <p:nvSpPr>
          <p:cNvPr id="6" name="card Stopping rules (each unit-tested)"/>
          <p:cNvSpPr/>
          <p:nvPr/>
        </p:nvSpPr>
        <p:spPr>
          <a:xfrm>
            <a:off x="548640" y="3611880"/>
            <a:ext cx="3657600" cy="1920240"/>
          </a:xfrm>
          <a:prstGeom prst="roundRect">
            <a:avLst>
              <a:gd name="adj" fmla="val 3810"/>
            </a:avLst>
          </a:prstGeom>
          <a:solidFill>
            <a:schemeClr val="bg2"/>
          </a:solidFill>
          <a:ln w="12700">
            <a:solidFill>
              <a:schemeClr val="bg2"/>
            </a:solidFill>
            <a:prstDash val="solid"/>
          </a:ln>
        </p:spPr>
      </p:sp>
      <p:sp>
        <p:nvSpPr>
          <p:cNvPr id="7" name="Text 5"/>
          <p:cNvSpPr txBox="1"/>
          <p:nvPr/>
        </p:nvSpPr>
        <p:spPr>
          <a:xfrm>
            <a:off x="731520" y="3749040"/>
            <a:ext cx="3291840" cy="365760"/>
          </a:xfrm>
          <a:prstGeom prst="rect">
            <a:avLst/>
          </a:prstGeom>
          <a:noFill/>
          <a:ln/>
        </p:spPr>
        <p:txBody>
          <a:bodyPr wrap="square" lIns="0" tIns="0" rIns="0" bIns="0" rtlCol="0" anchor="t"/>
          <a:lstStyle/>
          <a:p>
            <a:pPr indent="0" marL="0">
              <a:buNone/>
            </a:pPr>
            <a:r>
              <a:rPr lang="en-US" sz="1500" b="1" dirty="0">
                <a:solidFill>
                  <a:schemeClr val="tx2"/>
                </a:solidFill>
              </a:rPr>
              <a:t>Stopping rules (each unit-tested)</a:t>
            </a:r>
            <a:endParaRPr lang="en-US" sz="1500" dirty="0"/>
          </a:p>
        </p:txBody>
      </p:sp>
      <p:sp>
        <p:nvSpPr>
          <p:cNvPr id="8" name="Text 6"/>
          <p:cNvSpPr txBox="1"/>
          <p:nvPr/>
        </p:nvSpPr>
        <p:spPr>
          <a:xfrm>
            <a:off x="731520" y="4142232"/>
            <a:ext cx="3291840" cy="1280160"/>
          </a:xfrm>
          <a:prstGeom prst="rect">
            <a:avLst/>
          </a:prstGeom>
          <a:noFill/>
          <a:ln/>
        </p:spPr>
        <p:txBody>
          <a:bodyPr wrap="square" lIns="0" tIns="0" rIns="0" bIns="0" rtlCol="0" anchor="t"/>
          <a:lstStyle/>
          <a:p>
            <a:pPr indent="0" marL="0">
              <a:buNone/>
            </a:pPr>
            <a:r>
              <a:rPr lang="en-US" sz="1250" dirty="0">
                <a:solidFill>
                  <a:schemeClr val="tx1"/>
                </a:solidFill>
              </a:rPr>
              <a:t>max_depth · min_samples_split · min_samples_leaf · min_impurity_decrease (pruning rule identical to sklearn) · max_features per split (used by the forest bonus)</a:t>
            </a:r>
            <a:endParaRPr lang="en-US" sz="1250" dirty="0"/>
          </a:p>
        </p:txBody>
      </p:sp>
      <p:sp>
        <p:nvSpPr>
          <p:cNvPr id="9" name="step 1  Sort"/>
          <p:cNvSpPr/>
          <p:nvPr/>
        </p:nvSpPr>
        <p:spPr>
          <a:xfrm>
            <a:off x="4526280" y="1463040"/>
            <a:ext cx="1691640" cy="2103120"/>
          </a:xfrm>
          <a:prstGeom prst="roundRect">
            <a:avLst>
              <a:gd name="adj" fmla="val 4324"/>
            </a:avLst>
          </a:prstGeom>
          <a:solidFill>
            <a:schemeClr val="bg2"/>
          </a:solidFill>
          <a:ln w="12700">
            <a:solidFill>
              <a:schemeClr val="bg2"/>
            </a:solidFill>
            <a:prstDash val="solid"/>
          </a:ln>
        </p:spPr>
      </p:sp>
      <p:sp>
        <p:nvSpPr>
          <p:cNvPr id="10" name="Text 8"/>
          <p:cNvSpPr txBox="1"/>
          <p:nvPr/>
        </p:nvSpPr>
        <p:spPr>
          <a:xfrm>
            <a:off x="4663440" y="1572768"/>
            <a:ext cx="1463040" cy="365760"/>
          </a:xfrm>
          <a:prstGeom prst="rect">
            <a:avLst/>
          </a:prstGeom>
          <a:noFill/>
          <a:ln/>
        </p:spPr>
        <p:txBody>
          <a:bodyPr wrap="square" lIns="0" tIns="0" rIns="0" bIns="0" rtlCol="0" anchor="t"/>
          <a:lstStyle/>
          <a:p>
            <a:pPr indent="0" marL="0">
              <a:buNone/>
            </a:pPr>
            <a:r>
              <a:rPr lang="en-US" sz="1400" b="1" dirty="0">
                <a:solidFill>
                  <a:schemeClr val="accent1"/>
                </a:solidFill>
              </a:rPr>
              <a:t>1  Sort</a:t>
            </a:r>
            <a:endParaRPr lang="en-US" sz="1400" dirty="0"/>
          </a:p>
        </p:txBody>
      </p:sp>
      <p:sp>
        <p:nvSpPr>
          <p:cNvPr id="11" name="Text 9"/>
          <p:cNvSpPr txBox="1"/>
          <p:nvPr/>
        </p:nvSpPr>
        <p:spPr>
          <a:xfrm>
            <a:off x="4663440" y="1965960"/>
            <a:ext cx="1463040" cy="1554480"/>
          </a:xfrm>
          <a:prstGeom prst="rect">
            <a:avLst/>
          </a:prstGeom>
          <a:noFill/>
          <a:ln/>
        </p:spPr>
        <p:txBody>
          <a:bodyPr wrap="square" lIns="0" tIns="0" rIns="0" bIns="0" rtlCol="0" anchor="t"/>
          <a:lstStyle/>
          <a:p>
            <a:pPr indent="0" marL="0">
              <a:buNone/>
            </a:pPr>
            <a:r>
              <a:rPr lang="en-US" sz="1150" dirty="0">
                <a:solidFill>
                  <a:schemeClr val="tx1"/>
                </a:solidFill>
              </a:rPr>
              <a:t>argsort the feature once per node</a:t>
            </a:r>
            <a:endParaRPr lang="en-US" sz="1150" dirty="0"/>
          </a:p>
        </p:txBody>
      </p:sp>
      <p:sp>
        <p:nvSpPr>
          <p:cNvPr id="12" name="step 2  Accumulate"/>
          <p:cNvSpPr/>
          <p:nvPr/>
        </p:nvSpPr>
        <p:spPr>
          <a:xfrm>
            <a:off x="6355080" y="1463040"/>
            <a:ext cx="1691640" cy="2103120"/>
          </a:xfrm>
          <a:prstGeom prst="roundRect">
            <a:avLst>
              <a:gd name="adj" fmla="val 4324"/>
            </a:avLst>
          </a:prstGeom>
          <a:solidFill>
            <a:schemeClr val="bg2"/>
          </a:solidFill>
          <a:ln w="12700">
            <a:solidFill>
              <a:schemeClr val="bg2"/>
            </a:solidFill>
            <a:prstDash val="solid"/>
          </a:ln>
        </p:spPr>
      </p:sp>
      <p:sp>
        <p:nvSpPr>
          <p:cNvPr id="13" name="Text 11"/>
          <p:cNvSpPr txBox="1"/>
          <p:nvPr/>
        </p:nvSpPr>
        <p:spPr>
          <a:xfrm>
            <a:off x="6492240" y="1572768"/>
            <a:ext cx="1463040" cy="365760"/>
          </a:xfrm>
          <a:prstGeom prst="rect">
            <a:avLst/>
          </a:prstGeom>
          <a:noFill/>
          <a:ln/>
        </p:spPr>
        <p:txBody>
          <a:bodyPr wrap="square" lIns="0" tIns="0" rIns="0" bIns="0" rtlCol="0" anchor="t"/>
          <a:lstStyle/>
          <a:p>
            <a:pPr indent="0" marL="0">
              <a:buNone/>
            </a:pPr>
            <a:r>
              <a:rPr lang="en-US" sz="1400" b="1" dirty="0">
                <a:solidFill>
                  <a:schemeClr val="accent1"/>
                </a:solidFill>
              </a:rPr>
              <a:t>2  Accumulate</a:t>
            </a:r>
            <a:endParaRPr lang="en-US" sz="1400" dirty="0"/>
          </a:p>
        </p:txBody>
      </p:sp>
      <p:sp>
        <p:nvSpPr>
          <p:cNvPr id="14" name="Text 12"/>
          <p:cNvSpPr txBox="1"/>
          <p:nvPr/>
        </p:nvSpPr>
        <p:spPr>
          <a:xfrm>
            <a:off x="6492240" y="1965960"/>
            <a:ext cx="1463040" cy="1554480"/>
          </a:xfrm>
          <a:prstGeom prst="rect">
            <a:avLst/>
          </a:prstGeom>
          <a:noFill/>
          <a:ln/>
        </p:spPr>
        <p:txBody>
          <a:bodyPr wrap="square" lIns="0" tIns="0" rIns="0" bIns="0" rtlCol="0" anchor="t"/>
          <a:lstStyle/>
          <a:p>
            <a:pPr indent="0" marL="0">
              <a:buNone/>
            </a:pPr>
            <a:r>
              <a:rPr lang="en-US" sz="1150" dirty="0">
                <a:solidFill>
                  <a:schemeClr val="tx1"/>
                </a:solidFill>
              </a:rPr>
              <a:t>cumulative class counts (cls) or Σy, Σy² (reg) along the sorted order</a:t>
            </a:r>
            <a:endParaRPr lang="en-US" sz="1150" dirty="0"/>
          </a:p>
        </p:txBody>
      </p:sp>
      <p:sp>
        <p:nvSpPr>
          <p:cNvPr id="15" name="step 3  Score"/>
          <p:cNvSpPr/>
          <p:nvPr/>
        </p:nvSpPr>
        <p:spPr>
          <a:xfrm>
            <a:off x="8183880" y="1463040"/>
            <a:ext cx="1691640" cy="2103120"/>
          </a:xfrm>
          <a:prstGeom prst="roundRect">
            <a:avLst>
              <a:gd name="adj" fmla="val 4324"/>
            </a:avLst>
          </a:prstGeom>
          <a:solidFill>
            <a:schemeClr val="bg2"/>
          </a:solidFill>
          <a:ln w="12700">
            <a:solidFill>
              <a:schemeClr val="bg2"/>
            </a:solidFill>
            <a:prstDash val="solid"/>
          </a:ln>
        </p:spPr>
      </p:sp>
      <p:sp>
        <p:nvSpPr>
          <p:cNvPr id="16" name="Text 14"/>
          <p:cNvSpPr txBox="1"/>
          <p:nvPr/>
        </p:nvSpPr>
        <p:spPr>
          <a:xfrm>
            <a:off x="8321040" y="1572768"/>
            <a:ext cx="1463040" cy="365760"/>
          </a:xfrm>
          <a:prstGeom prst="rect">
            <a:avLst/>
          </a:prstGeom>
          <a:noFill/>
          <a:ln/>
        </p:spPr>
        <p:txBody>
          <a:bodyPr wrap="square" lIns="0" tIns="0" rIns="0" bIns="0" rtlCol="0" anchor="t"/>
          <a:lstStyle/>
          <a:p>
            <a:pPr indent="0" marL="0">
              <a:buNone/>
            </a:pPr>
            <a:r>
              <a:rPr lang="en-US" sz="1400" b="1" dirty="0">
                <a:solidFill>
                  <a:schemeClr val="accent1"/>
                </a:solidFill>
              </a:rPr>
              <a:t>3  Score</a:t>
            </a:r>
            <a:endParaRPr lang="en-US" sz="1400" dirty="0"/>
          </a:p>
        </p:txBody>
      </p:sp>
      <p:sp>
        <p:nvSpPr>
          <p:cNvPr id="17" name="Text 15"/>
          <p:cNvSpPr txBox="1"/>
          <p:nvPr/>
        </p:nvSpPr>
        <p:spPr>
          <a:xfrm>
            <a:off x="8321040" y="1965960"/>
            <a:ext cx="1463040" cy="1554480"/>
          </a:xfrm>
          <a:prstGeom prst="rect">
            <a:avLst/>
          </a:prstGeom>
          <a:noFill/>
          <a:ln/>
        </p:spPr>
        <p:txBody>
          <a:bodyPr wrap="square" lIns="0" tIns="0" rIns="0" bIns="0" rtlCol="0" anchor="t"/>
          <a:lstStyle/>
          <a:p>
            <a:pPr indent="0" marL="0">
              <a:buNone/>
            </a:pPr>
            <a:r>
              <a:rPr lang="en-US" sz="1150" dirty="0">
                <a:solidFill>
                  <a:schemeClr val="tx1"/>
                </a:solidFill>
              </a:rPr>
              <a:t>impurity of every left/right prefix in one NumPy expression</a:t>
            </a:r>
            <a:endParaRPr lang="en-US" sz="1150" dirty="0"/>
          </a:p>
        </p:txBody>
      </p:sp>
      <p:sp>
        <p:nvSpPr>
          <p:cNvPr id="18" name="step 4  Pick"/>
          <p:cNvSpPr/>
          <p:nvPr/>
        </p:nvSpPr>
        <p:spPr>
          <a:xfrm>
            <a:off x="10012680" y="1463040"/>
            <a:ext cx="1691640" cy="2103120"/>
          </a:xfrm>
          <a:prstGeom prst="roundRect">
            <a:avLst>
              <a:gd name="adj" fmla="val 4324"/>
            </a:avLst>
          </a:prstGeom>
          <a:solidFill>
            <a:schemeClr val="bg2"/>
          </a:solidFill>
          <a:ln w="12700">
            <a:solidFill>
              <a:schemeClr val="bg2"/>
            </a:solidFill>
            <a:prstDash val="solid"/>
          </a:ln>
        </p:spPr>
      </p:sp>
      <p:sp>
        <p:nvSpPr>
          <p:cNvPr id="19" name="Text 17"/>
          <p:cNvSpPr txBox="1"/>
          <p:nvPr/>
        </p:nvSpPr>
        <p:spPr>
          <a:xfrm>
            <a:off x="10149840" y="1572768"/>
            <a:ext cx="1463040" cy="365760"/>
          </a:xfrm>
          <a:prstGeom prst="rect">
            <a:avLst/>
          </a:prstGeom>
          <a:noFill/>
          <a:ln/>
        </p:spPr>
        <p:txBody>
          <a:bodyPr wrap="square" lIns="0" tIns="0" rIns="0" bIns="0" rtlCol="0" anchor="t"/>
          <a:lstStyle/>
          <a:p>
            <a:pPr indent="0" marL="0">
              <a:buNone/>
            </a:pPr>
            <a:r>
              <a:rPr lang="en-US" sz="1400" b="1" dirty="0">
                <a:solidFill>
                  <a:schemeClr val="accent1"/>
                </a:solidFill>
              </a:rPr>
              <a:t>4  Pick</a:t>
            </a:r>
            <a:endParaRPr lang="en-US" sz="1400" dirty="0"/>
          </a:p>
        </p:txBody>
      </p:sp>
      <p:sp>
        <p:nvSpPr>
          <p:cNvPr id="20" name="Text 18"/>
          <p:cNvSpPr txBox="1"/>
          <p:nvPr/>
        </p:nvSpPr>
        <p:spPr>
          <a:xfrm>
            <a:off x="10149840" y="1965960"/>
            <a:ext cx="1463040" cy="1554480"/>
          </a:xfrm>
          <a:prstGeom prst="rect">
            <a:avLst/>
          </a:prstGeom>
          <a:noFill/>
          <a:ln/>
        </p:spPr>
        <p:txBody>
          <a:bodyPr wrap="square" lIns="0" tIns="0" rIns="0" bIns="0" rtlCol="0" anchor="t"/>
          <a:lstStyle/>
          <a:p>
            <a:pPr indent="0" marL="0">
              <a:buNone/>
            </a:pPr>
            <a:r>
              <a:rPr lang="en-US" sz="1150" dirty="0">
                <a:solidFill>
                  <a:schemeClr val="tx1"/>
                </a:solidFill>
              </a:rPr>
              <a:t>largest Δ; threshold = midpoint of the two neighbouring values</a:t>
            </a:r>
            <a:endParaRPr lang="en-US" sz="1150" dirty="0"/>
          </a:p>
        </p:txBody>
      </p:sp>
      <p:sp>
        <p:nvSpPr>
          <p:cNvPr id="21" name="Text 19"/>
          <p:cNvSpPr txBox="1"/>
          <p:nvPr/>
        </p:nvSpPr>
        <p:spPr>
          <a:xfrm>
            <a:off x="4526280" y="3703320"/>
            <a:ext cx="7132320" cy="19202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Leaves store the mean (regression) or class counts (classification) → predict_proba = leaf frequencies.</a:t>
            </a:r>
            <a:endParaRPr lang="en-US" sz="1250" dirty="0"/>
          </a:p>
          <a:p>
            <a:pPr marL="342900" indent="-342900">
              <a:spcAft>
                <a:spcPts val="600"/>
              </a:spcAft>
              <a:buSzPct val="100000"/>
              <a:buChar char="•"/>
            </a:pPr>
            <a:r>
              <a:rPr lang="en-US" sz="1250" dirty="0">
                <a:solidFill>
                  <a:schemeClr val="tx1"/>
                </a:solidFill>
              </a:rPr>
              <a:t>Feature importances = accumulated weighted impurity decrease, normalised.</a:t>
            </a:r>
            <a:endParaRPr lang="en-US" sz="1250" dirty="0"/>
          </a:p>
          <a:p>
            <a:pPr marL="342900" indent="-342900">
              <a:spcAft>
                <a:spcPts val="600"/>
              </a:spcAft>
              <a:buSzPct val="100000"/>
              <a:buChar char="•"/>
            </a:pPr>
            <a:r>
              <a:rPr lang="en-US" sz="1250" dirty="0">
                <a:solidFill>
                  <a:schemeClr val="tx1"/>
                </a:solidFill>
              </a:rPr>
              <a:t>Complexity O(F · N log N) per level — the same as scikit-learn; ours is pure NumPy, theirs is Cython (≈12× faster wall-clock).</a:t>
            </a:r>
            <a:endParaRPr lang="en-US" sz="1250" dirty="0"/>
          </a:p>
          <a:p>
            <a:pPr marL="342900" indent="-342900">
              <a:spcAft>
                <a:spcPts val="600"/>
              </a:spcAft>
              <a:buSzPct val="100000"/>
              <a:buChar char="•"/>
            </a:pPr>
            <a:r>
              <a:rPr lang="en-US" sz="1250" dirty="0">
                <a:solidFill>
                  <a:schemeClr val="tx1"/>
                </a:solidFill>
              </a:rPr>
              <a:t>Sanity test: on fully-determined toy sets our tree picks the identical feature and threshold as DecisionTreeClassifier.</a:t>
            </a:r>
            <a:endParaRPr lang="en-US" sz="1250" dirty="0"/>
          </a:p>
        </p:txBody>
      </p:sp>
      <p:sp>
        <p:nvSpPr>
          <p:cNvPr id="22"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23" name="Text 21"/>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The algorithm is small: ~250 lines of NumPy reproduce the library once the objective and the weighting are implemented exactly.</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Validation error bottoms out at depth 18 — deeper trees only memorise the training set</a:t>
            </a:r>
            <a:endParaRPr lang="en-US" sz="2600" dirty="0"/>
          </a:p>
        </p:txBody>
      </p:sp>
      <p:pic>
        <p:nvPicPr>
          <p:cNvPr id="3" name="depth sweep" descr="C:/Users/HP/Desktop/ML_Final_Project_Starter_08.10.2026/ML_Final_Project_Starter/report/figures/fig_tree_depth.png">    </p:cNvPr>
          <p:cNvPicPr>
            <a:picLocks noChangeAspect="1"/>
          </p:cNvPicPr>
          <p:nvPr/>
        </p:nvPicPr>
        <p:blipFill>
          <a:blip r:embed="rId1"/>
          <a:stretch>
            <a:fillRect/>
          </a:stretch>
        </p:blipFill>
        <p:spPr>
          <a:xfrm>
            <a:off x="548640" y="1536192"/>
            <a:ext cx="7406640" cy="2962656"/>
          </a:xfrm>
          <a:prstGeom prst="rect">
            <a:avLst/>
          </a:prstGeom>
        </p:spPr>
      </p:pic>
      <p:sp>
        <p:nvSpPr>
          <p:cNvPr id="4" name="Text 1"/>
          <p:cNvSpPr txBox="1"/>
          <p:nvPr/>
        </p:nvSpPr>
        <p:spPr>
          <a:xfrm>
            <a:off x="8183880" y="1417320"/>
            <a:ext cx="3474720" cy="3931920"/>
          </a:xfrm>
          <a:prstGeom prst="rect">
            <a:avLst/>
          </a:prstGeom>
          <a:noFill/>
          <a:ln/>
        </p:spPr>
        <p:txBody>
          <a:bodyPr wrap="square" lIns="0" tIns="0" rIns="0" bIns="0" rtlCol="0" anchor="t"/>
          <a:lstStyle/>
          <a:p>
            <a:pPr marL="342900" indent="-342900">
              <a:spcAft>
                <a:spcPts val="600"/>
              </a:spcAft>
              <a:buSzPct val="100000"/>
              <a:buChar char="•"/>
            </a:pPr>
            <a:r>
              <a:rPr lang="en-US" sz="1250" b="1" dirty="0">
                <a:solidFill>
                  <a:schemeClr val="tx1"/>
                </a:solidFill>
              </a:rPr>
              <a:t>Task A (log-price): </a:t>
            </a:r>
            <a:endParaRPr lang="en-US" sz="1250" dirty="0"/>
          </a:p>
          <a:p>
            <a:pPr lvl="1" indent="0" marL="0">
              <a:spcAft>
                <a:spcPts val="600"/>
              </a:spcAft>
              <a:buNone/>
            </a:pPr>
            <a:r>
              <a:rPr lang="en-US" sz="1250" dirty="0">
                <a:solidFill>
                  <a:schemeClr val="tx1"/>
                </a:solidFill>
              </a:rPr>
              <a:t>train RMSE keeps falling (0.44 → 0.14) while validation flattens at 18 (0.2322) and drifts up by 30 (0.2327). Chosen on validation: depth 18, min_samples_leaf 10.</a:t>
            </a:r>
            <a:endParaRPr lang="en-US" sz="1250" dirty="0"/>
          </a:p>
          <a:p>
            <a:pPr marL="342900" indent="-342900">
              <a:spcAft>
                <a:spcPts val="600"/>
              </a:spcAft>
              <a:buSzPct val="100000"/>
              <a:buChar char="•"/>
            </a:pPr>
            <a:r>
              <a:rPr lang="en-US" sz="1250" b="1" dirty="0">
                <a:solidFill>
                  <a:schemeClr val="tx1"/>
                </a:solidFill>
              </a:rPr>
              <a:t>Task B (tier): </a:t>
            </a:r>
            <a:endParaRPr lang="en-US" sz="1250" dirty="0"/>
          </a:p>
          <a:p>
            <a:pPr lvl="1" indent="0" marL="0">
              <a:spcAft>
                <a:spcPts val="600"/>
              </a:spcAft>
              <a:buNone/>
            </a:pPr>
            <a:r>
              <a:rPr lang="en-US" sz="1250" dirty="0">
                <a:solidFill>
                  <a:schemeClr val="tx1"/>
                </a:solidFill>
              </a:rPr>
              <a:t>Gini vs entropy nearly identical (val F1 0.923 vs 0.920); Gini at depth 16 chosen.</a:t>
            </a:r>
            <a:endParaRPr lang="en-US" sz="1250" dirty="0"/>
          </a:p>
          <a:p>
            <a:pPr marL="342900" indent="-342900">
              <a:spcAft>
                <a:spcPts val="600"/>
              </a:spcAft>
              <a:buSzPct val="100000"/>
              <a:buChar char="•"/>
            </a:pPr>
            <a:r>
              <a:rPr lang="en-US" sz="1250" b="1" dirty="0">
                <a:solidFill>
                  <a:schemeClr val="tx1"/>
                </a:solidFill>
              </a:rPr>
              <a:t>min_samples_leaf: </a:t>
            </a:r>
            <a:endParaRPr lang="en-US" sz="1250" dirty="0"/>
          </a:p>
          <a:p>
            <a:pPr lvl="1" indent="0" marL="0">
              <a:spcAft>
                <a:spcPts val="600"/>
              </a:spcAft>
              <a:buNone/>
            </a:pPr>
            <a:r>
              <a:rPr lang="en-US" sz="1250" dirty="0">
                <a:solidFill>
                  <a:schemeClr val="tx1"/>
                </a:solidFill>
              </a:rPr>
              <a:t>a clean U-shape — 1 overfits, 50 underfits, 10 is best (panel b).</a:t>
            </a:r>
            <a:endParaRPr lang="en-US" sz="1250" dirty="0"/>
          </a:p>
        </p:txBody>
      </p:sp>
      <p:sp>
        <p:nvSpPr>
          <p:cNvPr id="5"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6" name="Text 3"/>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Classic bias–variance: the train–validation gap widens with depth; the chosen configuration sits at the knee, not at the edge of the grid.</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With matched hyperparameters our tree reproduces scikit-learn to the third decimal</a:t>
            </a:r>
            <a:endParaRPr lang="en-US" sz="2600" dirty="0"/>
          </a:p>
        </p:txBody>
      </p:sp>
      <p:graphicFrame>
        <p:nvGraphicFramePr>
          <p:cNvPr id="9" name="tree vs sklearn"/>
          <p:cNvGraphicFramePr>
            <a:graphicFrameLocks noGrp="1"/>
          </p:cNvGraphicFramePr>
          <p:nvPr>
            <p:extLst>
              <p:ext uri="{D42A27DB-BD31-4B8C-83A1-F6EECF244321}">
                <p14:modId xmlns:p14="http://schemas.microsoft.com/office/powerpoint/2010/main" val="1579011935"/>
              </p:ext>
            </p:extLst>
          </p:nvPr>
        </p:nvGraphicFramePr>
        <p:xfrm>
          <a:off x="548640" y="1417320"/>
          <a:ext cx="6400800" cy="914400"/>
        </p:xfrm>
        <a:graphic>
          <a:graphicData uri="http://schemas.openxmlformats.org/drawingml/2006/table">
            <a:tbl>
              <a:tblPr/>
              <a:tblGrid>
                <a:gridCol w="2926080"/>
                <a:gridCol w="1737360"/>
                <a:gridCol w="1737360"/>
              </a:tblGrid>
              <a:tr h="411480">
                <a:tc>
                  <a:txBody>
                    <a:bodyPr/>
                    <a:lstStyle/>
                    <a:p>
                      <a:pPr indent="0" marL="0">
                        <a:buNone/>
                      </a:pP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250" b="1" dirty="0">
                          <a:solidFill>
                            <a:srgbClr val="FFFFFF"/>
                          </a:solidFill>
                        </a:rPr>
                        <a:t>Ours</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250" b="1" dirty="0">
                          <a:solidFill>
                            <a:srgbClr val="FFFFFF"/>
                          </a:solidFill>
                        </a:rPr>
                        <a:t>sklearn</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r>
              <a:tr h="411480">
                <a:tc>
                  <a:txBody>
                    <a:bodyPr/>
                    <a:lstStyle/>
                    <a:p>
                      <a:pPr indent="0" marL="0">
                        <a:buNone/>
                      </a:pPr>
                      <a:r>
                        <a:rPr lang="en-US" sz="1250" dirty="0">
                          <a:solidFill>
                            <a:srgbClr val="1B2A41"/>
                          </a:solidFill>
                        </a:rPr>
                        <a:t>Task A — test RMSE (log)</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b="1" dirty="0">
                          <a:solidFill>
                            <a:srgbClr val="1B2A41"/>
                          </a:solidFill>
                        </a:rPr>
                        <a:t>0.2289</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1B2A41"/>
                          </a:solidFill>
                        </a:rPr>
                        <a:t>0.2287</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411480">
                <a:tc>
                  <a:txBody>
                    <a:bodyPr/>
                    <a:lstStyle/>
                    <a:p>
                      <a:pPr indent="0" marL="0">
                        <a:buNone/>
                      </a:pPr>
                      <a:r>
                        <a:rPr lang="en-US" sz="1250" dirty="0">
                          <a:solidFill>
                            <a:srgbClr val="1B2A41"/>
                          </a:solidFill>
                        </a:rPr>
                        <a:t>Task A — 5-fold CV RMSE (log)</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1B2A41"/>
                          </a:solidFill>
                        </a:rPr>
                        <a:t>0.2298 ± 0.0022</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1B2A41"/>
                          </a:solidFill>
                        </a:rPr>
                        <a:t>0.2295 ± 0.0021</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411480">
                <a:tc>
                  <a:txBody>
                    <a:bodyPr/>
                    <a:lstStyle/>
                    <a:p>
                      <a:pPr indent="0" marL="0">
                        <a:buNone/>
                      </a:pPr>
                      <a:r>
                        <a:rPr lang="en-US" sz="1250" dirty="0">
                          <a:solidFill>
                            <a:srgbClr val="1B2A41"/>
                          </a:solidFill>
                        </a:rPr>
                        <a:t>Task B — test F1</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b="1" dirty="0">
                          <a:solidFill>
                            <a:srgbClr val="1B2A41"/>
                          </a:solidFill>
                        </a:rPr>
                        <a:t>0.9228</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1B2A41"/>
                          </a:solidFill>
                        </a:rPr>
                        <a:t>0.9233</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411480">
                <a:tc>
                  <a:txBody>
                    <a:bodyPr/>
                    <a:lstStyle/>
                    <a:p>
                      <a:pPr indent="0" marL="0">
                        <a:buNone/>
                      </a:pPr>
                      <a:r>
                        <a:rPr lang="en-US" sz="1250" dirty="0">
                          <a:solidFill>
                            <a:srgbClr val="1B2A41"/>
                          </a:solidFill>
                        </a:rPr>
                        <a:t>Task B — 5-fold CV F1</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1B2A41"/>
                          </a:solidFill>
                        </a:rPr>
                        <a:t>0.9226 ± 0.0022</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1B2A41"/>
                          </a:solidFill>
                        </a:rPr>
                        <a:t>0.9224 ± 0.0026</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411480">
                <a:tc>
                  <a:txBody>
                    <a:bodyPr/>
                    <a:lstStyle/>
                    <a:p>
                      <a:pPr indent="0" marL="0">
                        <a:buNone/>
                      </a:pPr>
                      <a:r>
                        <a:rPr lang="en-US" sz="1250" dirty="0">
                          <a:solidFill>
                            <a:srgbClr val="1B2A41"/>
                          </a:solidFill>
                        </a:rPr>
                        <a:t>Fit time, 40k rows</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1B2A41"/>
                          </a:solidFill>
                        </a:rPr>
                        <a:t>≈ 6 s</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50" dirty="0">
                          <a:solidFill>
                            <a:srgbClr val="1B2A41"/>
                          </a:solidFill>
                        </a:rPr>
                        <a:t>≈ 0.5 s</a:t>
                      </a:r>
                      <a:endParaRPr lang="en-US" sz="125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4" name="Text 1"/>
          <p:cNvSpPr txBox="1"/>
          <p:nvPr/>
        </p:nvSpPr>
        <p:spPr>
          <a:xfrm>
            <a:off x="548640" y="4160520"/>
            <a:ext cx="6400800" cy="146304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Same objective, same weighting, same stopping rules → same trees up to tie-breaking.</a:t>
            </a:r>
            <a:endParaRPr lang="en-US" sz="1250" dirty="0"/>
          </a:p>
          <a:p>
            <a:pPr marL="342900" indent="-342900">
              <a:spcAft>
                <a:spcPts val="600"/>
              </a:spcAft>
              <a:buSzPct val="100000"/>
              <a:buChar char="•"/>
            </a:pPr>
            <a:r>
              <a:rPr lang="en-US" sz="1250" dirty="0">
                <a:solidFill>
                  <a:schemeClr val="tx1"/>
                </a:solidFill>
              </a:rPr>
              <a:t>Residual gap: equal-gain ties (we take the first feature; sklearn permutes features) and last-bit float midpoints.</a:t>
            </a:r>
            <a:endParaRPr lang="en-US" sz="1250" dirty="0"/>
          </a:p>
          <a:p>
            <a:pPr marL="342900" indent="-342900">
              <a:spcAft>
                <a:spcPts val="600"/>
              </a:spcAft>
              <a:buSzPct val="100000"/>
              <a:buChar char="•"/>
            </a:pPr>
            <a:r>
              <a:rPr lang="en-US" sz="1250" dirty="0">
                <a:solidFill>
                  <a:schemeClr val="tx1"/>
                </a:solidFill>
              </a:rPr>
              <a:t>CV std ≈ 0.002 ≫ the difference → the agreement is systematic, not one lucky split.</a:t>
            </a:r>
            <a:endParaRPr lang="en-US" sz="1250" dirty="0"/>
          </a:p>
        </p:txBody>
      </p:sp>
      <p:pic>
        <p:nvPicPr>
          <p:cNvPr id="5" name="gini vs entropy" descr="C:/Users/HP/Desktop/ML_Final_Project_Starter_08.10.2026/ML_Final_Project_Starter/report/figures/fig_tree_cls.png">    </p:cNvPr>
          <p:cNvPicPr>
            <a:picLocks noChangeAspect="1"/>
          </p:cNvPicPr>
          <p:nvPr/>
        </p:nvPicPr>
        <p:blipFill>
          <a:blip r:embed="rId1"/>
          <a:stretch>
            <a:fillRect/>
          </a:stretch>
        </p:blipFill>
        <p:spPr>
          <a:xfrm>
            <a:off x="7223760" y="2023318"/>
            <a:ext cx="4434840" cy="2902804"/>
          </a:xfrm>
          <a:prstGeom prst="rect">
            <a:avLst/>
          </a:prstGeom>
        </p:spPr>
      </p:pic>
      <p:sp>
        <p:nvSpPr>
          <p:cNvPr id="6"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7" name="Text 3"/>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The library's edge is engineering (Cython), not statistics — the numbers agree within cross-validation noise.</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Pegasos: the soft-margin SVM solved by sub-gradient descent — no QP, no SMO</a:t>
            </a:r>
            <a:endParaRPr lang="en-US" sz="2600" dirty="0"/>
          </a:p>
        </p:txBody>
      </p:sp>
      <p:sp>
        <p:nvSpPr>
          <p:cNvPr id="3" name="card Objective (labels y ∈ {−1, +1})"/>
          <p:cNvSpPr/>
          <p:nvPr/>
        </p:nvSpPr>
        <p:spPr>
          <a:xfrm>
            <a:off x="548640" y="1417320"/>
            <a:ext cx="6035040" cy="1097280"/>
          </a:xfrm>
          <a:prstGeom prst="roundRect">
            <a:avLst>
              <a:gd name="adj" fmla="val 6667"/>
            </a:avLst>
          </a:prstGeom>
          <a:solidFill>
            <a:schemeClr val="bg2"/>
          </a:solidFill>
          <a:ln w="12700">
            <a:solidFill>
              <a:schemeClr val="bg2"/>
            </a:solidFill>
            <a:prstDash val="solid"/>
          </a:ln>
        </p:spPr>
      </p:sp>
      <p:sp>
        <p:nvSpPr>
          <p:cNvPr id="4" name="Text 2"/>
          <p:cNvSpPr txBox="1"/>
          <p:nvPr/>
        </p:nvSpPr>
        <p:spPr>
          <a:xfrm>
            <a:off x="731520" y="1554480"/>
            <a:ext cx="5669280" cy="365760"/>
          </a:xfrm>
          <a:prstGeom prst="rect">
            <a:avLst/>
          </a:prstGeom>
          <a:noFill/>
          <a:ln/>
        </p:spPr>
        <p:txBody>
          <a:bodyPr wrap="square" lIns="0" tIns="0" rIns="0" bIns="0" rtlCol="0" anchor="t"/>
          <a:lstStyle/>
          <a:p>
            <a:pPr indent="0" marL="0">
              <a:buNone/>
            </a:pPr>
            <a:r>
              <a:rPr lang="en-US" sz="1500" b="1" dirty="0">
                <a:solidFill>
                  <a:schemeClr val="accent2"/>
                </a:solidFill>
              </a:rPr>
              <a:t>Objective (labels y ∈ {−1, +1})</a:t>
            </a:r>
            <a:endParaRPr lang="en-US" sz="1500" dirty="0"/>
          </a:p>
        </p:txBody>
      </p:sp>
      <p:sp>
        <p:nvSpPr>
          <p:cNvPr id="5" name="Text 3"/>
          <p:cNvSpPr txBox="1"/>
          <p:nvPr/>
        </p:nvSpPr>
        <p:spPr>
          <a:xfrm>
            <a:off x="731520" y="1947672"/>
            <a:ext cx="5669280" cy="457200"/>
          </a:xfrm>
          <a:prstGeom prst="rect">
            <a:avLst/>
          </a:prstGeom>
          <a:noFill/>
          <a:ln/>
        </p:spPr>
        <p:txBody>
          <a:bodyPr wrap="square" lIns="0" tIns="0" rIns="0" bIns="0" rtlCol="0" anchor="t"/>
          <a:lstStyle/>
          <a:p>
            <a:pPr indent="0" marL="0">
              <a:buNone/>
            </a:pPr>
            <a:r>
              <a:rPr lang="en-US" sz="1250" dirty="0">
                <a:solidFill>
                  <a:schemeClr val="tx1"/>
                </a:solidFill>
              </a:rPr>
              <a:t>J(w, b) = λ/2 · ‖w‖²  +  1/n · Σᵢ max(0, 1 − yᵢ(w·xᵢ + b))</a:t>
            </a:r>
            <a:endParaRPr lang="en-US" sz="1250" dirty="0"/>
          </a:p>
        </p:txBody>
      </p:sp>
      <p:sp>
        <p:nvSpPr>
          <p:cNvPr id="6" name="card Mini-batch update at step t,  η_t = 1/(λt),  |B| = 64"/>
          <p:cNvSpPr/>
          <p:nvPr/>
        </p:nvSpPr>
        <p:spPr>
          <a:xfrm>
            <a:off x="548640" y="2651760"/>
            <a:ext cx="6035040" cy="1691640"/>
          </a:xfrm>
          <a:prstGeom prst="roundRect">
            <a:avLst>
              <a:gd name="adj" fmla="val 4324"/>
            </a:avLst>
          </a:prstGeom>
          <a:solidFill>
            <a:schemeClr val="bg2"/>
          </a:solidFill>
          <a:ln w="12700">
            <a:solidFill>
              <a:schemeClr val="bg2"/>
            </a:solidFill>
            <a:prstDash val="solid"/>
          </a:ln>
        </p:spPr>
      </p:sp>
      <p:sp>
        <p:nvSpPr>
          <p:cNvPr id="7" name="Text 5"/>
          <p:cNvSpPr txBox="1"/>
          <p:nvPr/>
        </p:nvSpPr>
        <p:spPr>
          <a:xfrm>
            <a:off x="731520" y="2788920"/>
            <a:ext cx="5669280" cy="365760"/>
          </a:xfrm>
          <a:prstGeom prst="rect">
            <a:avLst/>
          </a:prstGeom>
          <a:noFill/>
          <a:ln/>
        </p:spPr>
        <p:txBody>
          <a:bodyPr wrap="square" lIns="0" tIns="0" rIns="0" bIns="0" rtlCol="0" anchor="t"/>
          <a:lstStyle/>
          <a:p>
            <a:pPr indent="0" marL="0">
              <a:buNone/>
            </a:pPr>
            <a:r>
              <a:rPr lang="en-US" sz="1500" b="1" dirty="0">
                <a:solidFill>
                  <a:schemeClr val="tx1"/>
                </a:solidFill>
              </a:rPr>
              <a:t>Mini-batch update at step t,  η_t = 1/(λt),  |B| = 64</a:t>
            </a:r>
            <a:endParaRPr lang="en-US" sz="1500" dirty="0"/>
          </a:p>
        </p:txBody>
      </p:sp>
      <p:sp>
        <p:nvSpPr>
          <p:cNvPr id="8" name="Text 6"/>
          <p:cNvSpPr txBox="1"/>
          <p:nvPr/>
        </p:nvSpPr>
        <p:spPr>
          <a:xfrm>
            <a:off x="731520" y="3182112"/>
            <a:ext cx="5669280" cy="1051560"/>
          </a:xfrm>
          <a:prstGeom prst="rect">
            <a:avLst/>
          </a:prstGeom>
          <a:noFill/>
          <a:ln/>
        </p:spPr>
        <p:txBody>
          <a:bodyPr wrap="square" lIns="0" tIns="0" rIns="0" bIns="0" rtlCol="0" anchor="t"/>
          <a:lstStyle/>
          <a:p>
            <a:pPr indent="0" marL="0">
              <a:buNone/>
            </a:pPr>
            <a:r>
              <a:rPr lang="en-US" sz="1250" dirty="0">
                <a:solidFill>
                  <a:schemeClr val="tx1"/>
                </a:solidFill>
              </a:rPr>
              <a:t>hinge active  (yᵢ(w·xᵢ+b) &lt; 1):   w ← (1 − η_t λ) w + η_t · mean(yᵢ xᵢ);   b ← b + η_t · mean(yᵢ)</a:t>
            </a:r>
            <a:endParaRPr lang="en-US" sz="1250" dirty="0"/>
          </a:p>
          <a:p>
            <a:pPr indent="0" marL="0">
              <a:buNone/>
            </a:pPr>
            <a:r>
              <a:rPr lang="en-US" sz="1250" dirty="0">
                <a:solidFill>
                  <a:schemeClr val="tx1"/>
                </a:solidFill>
              </a:rPr>
              <a:t>otherwise:   w ← (1 − η_t λ) w</a:t>
            </a:r>
            <a:endParaRPr lang="en-US" sz="1250" dirty="0"/>
          </a:p>
          <a:p>
            <a:pPr indent="0" marL="0">
              <a:buNone/>
            </a:pPr>
            <a:r>
              <a:rPr lang="en-US" sz="1250" dirty="0">
                <a:solidFill>
                  <a:schemeClr val="tx1"/>
                </a:solidFill>
              </a:rPr>
              <a:t>Bias not regularised; features standardised with training statistics (hinge loss is scale-sensitive).</a:t>
            </a:r>
            <a:endParaRPr lang="en-US" sz="1250" dirty="0"/>
          </a:p>
        </p:txBody>
      </p:sp>
      <p:sp>
        <p:nvSpPr>
          <p:cNvPr id="9" name="Text 7"/>
          <p:cNvSpPr txBox="1"/>
          <p:nvPr/>
        </p:nvSpPr>
        <p:spPr>
          <a:xfrm>
            <a:off x="548640" y="4480560"/>
            <a:ext cx="6035040" cy="11887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1"/>
                </a:solidFill>
              </a:rPr>
              <a:t>Support vectors = training points with yᵢ(w·xᵢ+b) ≤ 1; margin width = 2/‖w‖.</a:t>
            </a:r>
            <a:endParaRPr lang="en-US" sz="1150" dirty="0"/>
          </a:p>
          <a:p>
            <a:pPr marL="342900" indent="-342900">
              <a:spcAft>
                <a:spcPts val="600"/>
              </a:spcAft>
              <a:buSzPct val="100000"/>
              <a:buChar char="•"/>
            </a:pPr>
            <a:r>
              <a:rPr lang="en-US" sz="1150" dirty="0">
                <a:solidFill>
                  <a:schemeClr val="tx1"/>
                </a:solidFill>
              </a:rPr>
              <a:t>Objective J tracked every 500 steps and shown to decrease (right).</a:t>
            </a:r>
            <a:endParaRPr lang="en-US" sz="1150" dirty="0"/>
          </a:p>
          <a:p>
            <a:pPr marL="342900" indent="-342900">
              <a:spcAft>
                <a:spcPts val="600"/>
              </a:spcAft>
              <a:buSzPct val="100000"/>
              <a:buChar char="•"/>
            </a:pPr>
            <a:r>
              <a:rPr lang="en-US" sz="1150" dirty="0">
                <a:solidFill>
                  <a:schemeClr val="tx1"/>
                </a:solidFill>
              </a:rPr>
              <a:t>Non-linearity: random Fourier features z(x) = √(2/D) cos(Wx + c), W ~ N(0, 2γI), D = 300 — an explicit map approximating the RBF kernel, so the same linear solver runs unchanged in O(nD).</a:t>
            </a:r>
            <a:endParaRPr lang="en-US" sz="1150" dirty="0"/>
          </a:p>
        </p:txBody>
      </p:sp>
      <p:pic>
        <p:nvPicPr>
          <p:cNvPr id="10" name="objective convergence" descr="C:/Users/HP/Desktop/ML_Final_Project_Starter_08.10.2026/ML_Final_Project_Starter/report/figures/fig_svm_objective.png">    </p:cNvPr>
          <p:cNvPicPr>
            <a:picLocks noChangeAspect="1"/>
          </p:cNvPicPr>
          <p:nvPr/>
        </p:nvPicPr>
        <p:blipFill>
          <a:blip r:embed="rId1"/>
          <a:stretch>
            <a:fillRect/>
          </a:stretch>
        </p:blipFill>
        <p:spPr>
          <a:xfrm>
            <a:off x="6858000" y="1903615"/>
            <a:ext cx="4800600" cy="3142211"/>
          </a:xfrm>
          <a:prstGeom prst="rect">
            <a:avLst/>
          </a:prstGeom>
        </p:spPr>
      </p:pic>
      <p:sp>
        <p:nvSpPr>
          <p:cNvPr id="11"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12" name="Text 9"/>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RFF over kernelised Pegasos: at n ≈ 40k, dual coefficients make every prediction O(n); RFF stays linear-time with one solver.</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λ sets the margin–fit trade-off; 1/(λt) converges fastest; F1 plateaus after ~10 epochs</a:t>
            </a:r>
            <a:endParaRPr lang="en-US" sz="2600" dirty="0"/>
          </a:p>
        </p:txBody>
      </p:sp>
      <p:pic>
        <p:nvPicPr>
          <p:cNvPr id="3" name="lambda sweep" descr="C:/Users/HP/Desktop/ML_Final_Project_Starter_08.10.2026/ML_Final_Project_Starter/report/figures/fig_svm_lambda.png">    </p:cNvPr>
          <p:cNvPicPr>
            <a:picLocks noChangeAspect="1"/>
          </p:cNvPicPr>
          <p:nvPr/>
        </p:nvPicPr>
        <p:blipFill>
          <a:blip r:embed="rId1"/>
          <a:stretch>
            <a:fillRect/>
          </a:stretch>
        </p:blipFill>
        <p:spPr>
          <a:xfrm>
            <a:off x="1165860" y="1325880"/>
            <a:ext cx="5715000" cy="2286000"/>
          </a:xfrm>
          <a:prstGeom prst="rect">
            <a:avLst/>
          </a:prstGeom>
        </p:spPr>
      </p:pic>
      <p:pic>
        <p:nvPicPr>
          <p:cNvPr id="4" name="epochs and schedules" descr="C:/Users/HP/Desktop/ML_Final_Project_Starter_08.10.2026/ML_Final_Project_Starter/report/figures/fig_svm_schedule.png">    </p:cNvPr>
          <p:cNvPicPr>
            <a:picLocks noChangeAspect="1"/>
          </p:cNvPicPr>
          <p:nvPr/>
        </p:nvPicPr>
        <p:blipFill>
          <a:blip r:embed="rId2"/>
          <a:stretch>
            <a:fillRect/>
          </a:stretch>
        </p:blipFill>
        <p:spPr>
          <a:xfrm>
            <a:off x="1508760" y="3611880"/>
            <a:ext cx="5029200" cy="2011680"/>
          </a:xfrm>
          <a:prstGeom prst="rect">
            <a:avLst/>
          </a:prstGeom>
        </p:spPr>
      </p:pic>
      <p:sp>
        <p:nvSpPr>
          <p:cNvPr id="5" name="Text 1"/>
          <p:cNvSpPr txBox="1"/>
          <p:nvPr/>
        </p:nvSpPr>
        <p:spPr>
          <a:xfrm>
            <a:off x="7680960" y="1417320"/>
            <a:ext cx="3977640" cy="4389120"/>
          </a:xfrm>
          <a:prstGeom prst="rect">
            <a:avLst/>
          </a:prstGeom>
          <a:noFill/>
          <a:ln/>
        </p:spPr>
        <p:txBody>
          <a:bodyPr wrap="square" lIns="0" tIns="0" rIns="0" bIns="0" rtlCol="0" anchor="t"/>
          <a:lstStyle/>
          <a:p>
            <a:pPr marL="342900" indent="-342900">
              <a:spcAft>
                <a:spcPts val="600"/>
              </a:spcAft>
              <a:buSzPct val="100000"/>
              <a:buChar char="•"/>
            </a:pPr>
            <a:r>
              <a:rPr lang="en-US" sz="1200" b="1" dirty="0">
                <a:solidFill>
                  <a:schemeClr val="tx1"/>
                </a:solidFill>
              </a:rPr>
              <a:t>λ (regularisation): </a:t>
            </a:r>
            <a:endParaRPr lang="en-US" sz="1200" dirty="0"/>
          </a:p>
          <a:p>
            <a:pPr lvl="1" indent="0" marL="0">
              <a:spcAft>
                <a:spcPts val="600"/>
              </a:spcAft>
              <a:buNone/>
            </a:pPr>
            <a:r>
              <a:rPr lang="en-US" sz="1200" dirty="0">
                <a:solidFill>
                  <a:schemeClr val="tx1"/>
                </a:solidFill>
              </a:rPr>
              <a:t>from 10⁻⁶ to 10⁻² the margin widens 30× (0.028 → 0.844); validation F1 peaks at λ = 10⁻³ — beyond that the model under-fits.</a:t>
            </a:r>
            <a:endParaRPr lang="en-US" sz="1200" dirty="0"/>
          </a:p>
          <a:p>
            <a:pPr marL="342900" indent="-342900">
              <a:spcAft>
                <a:spcPts val="600"/>
              </a:spcAft>
              <a:buSzPct val="100000"/>
              <a:buChar char="•"/>
            </a:pPr>
            <a:r>
              <a:rPr lang="en-US" sz="1200" b="1" dirty="0">
                <a:solidFill>
                  <a:schemeClr val="tx1"/>
                </a:solidFill>
              </a:rPr>
              <a:t>Epochs: </a:t>
            </a:r>
            <a:endParaRPr lang="en-US" sz="1200" dirty="0"/>
          </a:p>
          <a:p>
            <a:pPr lvl="1" indent="0" marL="0">
              <a:spcAft>
                <a:spcPts val="600"/>
              </a:spcAft>
              <a:buNone/>
            </a:pPr>
            <a:r>
              <a:rPr lang="en-US" sz="1200" dirty="0">
                <a:solidFill>
                  <a:schemeClr val="tx1"/>
                </a:solidFill>
              </a:rPr>
              <a:t>1 epoch = 629 mini-batch steps. F1 is within noise of its plateau after ~10 epochs (0.895 vs 0.896 at 50).</a:t>
            </a:r>
            <a:endParaRPr lang="en-US" sz="1200" dirty="0"/>
          </a:p>
          <a:p>
            <a:pPr marL="342900" indent="-342900">
              <a:spcAft>
                <a:spcPts val="600"/>
              </a:spcAft>
              <a:buSzPct val="100000"/>
              <a:buChar char="•"/>
            </a:pPr>
            <a:r>
              <a:rPr lang="en-US" sz="1200" b="1" dirty="0">
                <a:solidFill>
                  <a:schemeClr val="tx1"/>
                </a:solidFill>
              </a:rPr>
              <a:t>Schedule: </a:t>
            </a:r>
            <a:endParaRPr lang="en-US" sz="1200" dirty="0"/>
          </a:p>
          <a:p>
            <a:pPr lvl="1" indent="0" marL="0">
              <a:spcAft>
                <a:spcPts val="600"/>
              </a:spcAft>
              <a:buNone/>
            </a:pPr>
            <a:r>
              <a:rPr lang="en-US" sz="1200" dirty="0">
                <a:solidFill>
                  <a:schemeClr val="tx1"/>
                </a:solidFill>
              </a:rPr>
              <a:t>1/(λt) reaches the lowest J (0.291, F1 0.897); constant η₀ is close (0.893); η₀/√t shrinks w too slowly — wider margin (0.91) but worse placement (F1 0.886).</a:t>
            </a:r>
            <a:endParaRPr lang="en-US" sz="1200" dirty="0"/>
          </a:p>
          <a:p>
            <a:pPr marL="342900" indent="-342900">
              <a:spcAft>
                <a:spcPts val="600"/>
              </a:spcAft>
              <a:buSzPct val="100000"/>
              <a:buChar char="•"/>
            </a:pPr>
            <a:r>
              <a:rPr lang="en-US" sz="1200" b="1" dirty="0">
                <a:solidFill>
                  <a:schemeClr val="tx1"/>
                </a:solidFill>
              </a:rPr>
              <a:t>RFF bandwidth γ: </a:t>
            </a:r>
            <a:endParaRPr lang="en-US" sz="1200" dirty="0"/>
          </a:p>
          <a:p>
            <a:pPr lvl="1" indent="0" marL="0">
              <a:spcAft>
                <a:spcPts val="600"/>
              </a:spcAft>
              <a:buNone/>
            </a:pPr>
            <a:r>
              <a:rPr lang="en-US" sz="1200" dirty="0">
                <a:solidFill>
                  <a:schemeClr val="tx1"/>
                </a:solidFill>
              </a:rPr>
              <a:t>best 0.01; larger γ over-fits sharply (F1 0.74 at γ = 0.1).</a:t>
            </a:r>
            <a:endParaRPr lang="en-US" sz="1200" dirty="0"/>
          </a:p>
        </p:txBody>
      </p:sp>
      <p:sp>
        <p:nvSpPr>
          <p:cNvPr id="6"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7" name="Text 3"/>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All three solver knobs the statement asks for — λ, epochs, LR schedule — are exposed, and each visibly changes the margin or the metric.</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30% of training points are support vectors — the tiers interleave at the threshold; linear beats RBF here</a:t>
            </a:r>
            <a:endParaRPr lang="en-US" sz="2600" dirty="0"/>
          </a:p>
        </p:txBody>
      </p:sp>
      <p:sp>
        <p:nvSpPr>
          <p:cNvPr id="3" name="stat card ‖w‖ — norm of the learned weight vector"/>
          <p:cNvSpPr/>
          <p:nvPr/>
        </p:nvSpPr>
        <p:spPr>
          <a:xfrm>
            <a:off x="548640" y="1417320"/>
            <a:ext cx="2194560" cy="1234440"/>
          </a:xfrm>
          <a:prstGeom prst="roundRect">
            <a:avLst>
              <a:gd name="adj" fmla="val 5926"/>
            </a:avLst>
          </a:prstGeom>
          <a:solidFill>
            <a:schemeClr val="bg2"/>
          </a:solidFill>
          <a:ln w="12700">
            <a:solidFill>
              <a:schemeClr val="bg2"/>
            </a:solidFill>
            <a:prstDash val="solid"/>
          </a:ln>
        </p:spPr>
      </p:sp>
      <p:sp>
        <p:nvSpPr>
          <p:cNvPr id="4" name="Text 2"/>
          <p:cNvSpPr txBox="1"/>
          <p:nvPr/>
        </p:nvSpPr>
        <p:spPr>
          <a:xfrm>
            <a:off x="731520" y="1508760"/>
            <a:ext cx="1828800" cy="6400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3.79</a:t>
            </a:r>
            <a:endParaRPr lang="en-US" sz="3000" dirty="0"/>
          </a:p>
        </p:txBody>
      </p:sp>
      <p:sp>
        <p:nvSpPr>
          <p:cNvPr id="5" name="Text 3"/>
          <p:cNvSpPr txBox="1"/>
          <p:nvPr/>
        </p:nvSpPr>
        <p:spPr>
          <a:xfrm>
            <a:off x="731520" y="2148840"/>
            <a:ext cx="1828800" cy="457200"/>
          </a:xfrm>
          <a:prstGeom prst="rect">
            <a:avLst/>
          </a:prstGeom>
          <a:noFill/>
          <a:ln/>
        </p:spPr>
        <p:txBody>
          <a:bodyPr wrap="square" lIns="0" tIns="0" rIns="0" bIns="0" rtlCol="0" anchor="t"/>
          <a:lstStyle/>
          <a:p>
            <a:pPr indent="0" marL="0">
              <a:buNone/>
            </a:pPr>
            <a:r>
              <a:rPr lang="en-US" sz="1200" dirty="0">
                <a:solidFill>
                  <a:schemeClr val="tx2"/>
                </a:solidFill>
              </a:rPr>
              <a:t>‖w‖ — norm of the learned weight vector</a:t>
            </a:r>
            <a:endParaRPr lang="en-US" sz="1200" dirty="0"/>
          </a:p>
        </p:txBody>
      </p:sp>
      <p:sp>
        <p:nvSpPr>
          <p:cNvPr id="6" name="stat card margin width 2/‖w‖ (standardised units)"/>
          <p:cNvSpPr/>
          <p:nvPr/>
        </p:nvSpPr>
        <p:spPr>
          <a:xfrm>
            <a:off x="2926080" y="1417320"/>
            <a:ext cx="2194560" cy="1234440"/>
          </a:xfrm>
          <a:prstGeom prst="roundRect">
            <a:avLst>
              <a:gd name="adj" fmla="val 5926"/>
            </a:avLst>
          </a:prstGeom>
          <a:solidFill>
            <a:schemeClr val="bg2"/>
          </a:solidFill>
          <a:ln w="12700">
            <a:solidFill>
              <a:schemeClr val="bg2"/>
            </a:solidFill>
            <a:prstDash val="solid"/>
          </a:ln>
        </p:spPr>
      </p:sp>
      <p:sp>
        <p:nvSpPr>
          <p:cNvPr id="7" name="Text 5"/>
          <p:cNvSpPr txBox="1"/>
          <p:nvPr/>
        </p:nvSpPr>
        <p:spPr>
          <a:xfrm>
            <a:off x="3108960" y="1508760"/>
            <a:ext cx="1828800" cy="64008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0.53</a:t>
            </a:r>
            <a:endParaRPr lang="en-US" sz="3000" dirty="0"/>
          </a:p>
        </p:txBody>
      </p:sp>
      <p:sp>
        <p:nvSpPr>
          <p:cNvPr id="8" name="Text 6"/>
          <p:cNvSpPr txBox="1"/>
          <p:nvPr/>
        </p:nvSpPr>
        <p:spPr>
          <a:xfrm>
            <a:off x="3108960" y="2148840"/>
            <a:ext cx="1828800" cy="457200"/>
          </a:xfrm>
          <a:prstGeom prst="rect">
            <a:avLst/>
          </a:prstGeom>
          <a:noFill/>
          <a:ln/>
        </p:spPr>
        <p:txBody>
          <a:bodyPr wrap="square" lIns="0" tIns="0" rIns="0" bIns="0" rtlCol="0" anchor="t"/>
          <a:lstStyle/>
          <a:p>
            <a:pPr indent="0" marL="0">
              <a:buNone/>
            </a:pPr>
            <a:r>
              <a:rPr lang="en-US" sz="1200" dirty="0">
                <a:solidFill>
                  <a:schemeClr val="tx2"/>
                </a:solidFill>
              </a:rPr>
              <a:t>margin width 2/‖w‖ (standardised units)</a:t>
            </a:r>
            <a:endParaRPr lang="en-US" sz="1200" dirty="0"/>
          </a:p>
        </p:txBody>
      </p:sp>
      <p:sp>
        <p:nvSpPr>
          <p:cNvPr id="9" name="stat card support vectors of 40,197 (30%) — margin ≤ 1"/>
          <p:cNvSpPr/>
          <p:nvPr/>
        </p:nvSpPr>
        <p:spPr>
          <a:xfrm>
            <a:off x="5303520" y="1417320"/>
            <a:ext cx="2194560" cy="1234440"/>
          </a:xfrm>
          <a:prstGeom prst="roundRect">
            <a:avLst>
              <a:gd name="adj" fmla="val 5926"/>
            </a:avLst>
          </a:prstGeom>
          <a:solidFill>
            <a:schemeClr val="bg2"/>
          </a:solidFill>
          <a:ln w="12700">
            <a:solidFill>
              <a:schemeClr val="bg2"/>
            </a:solidFill>
            <a:prstDash val="solid"/>
          </a:ln>
        </p:spPr>
      </p:sp>
      <p:sp>
        <p:nvSpPr>
          <p:cNvPr id="10" name="Text 8"/>
          <p:cNvSpPr txBox="1"/>
          <p:nvPr/>
        </p:nvSpPr>
        <p:spPr>
          <a:xfrm>
            <a:off x="5486400" y="1508760"/>
            <a:ext cx="1828800" cy="64008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11,917</a:t>
            </a:r>
            <a:endParaRPr lang="en-US" sz="3000" dirty="0"/>
          </a:p>
        </p:txBody>
      </p:sp>
      <p:sp>
        <p:nvSpPr>
          <p:cNvPr id="11" name="Text 9"/>
          <p:cNvSpPr txBox="1"/>
          <p:nvPr/>
        </p:nvSpPr>
        <p:spPr>
          <a:xfrm>
            <a:off x="5486400" y="2148840"/>
            <a:ext cx="1828800" cy="457200"/>
          </a:xfrm>
          <a:prstGeom prst="rect">
            <a:avLst/>
          </a:prstGeom>
          <a:noFill/>
          <a:ln/>
        </p:spPr>
        <p:txBody>
          <a:bodyPr wrap="square" lIns="0" tIns="0" rIns="0" bIns="0" rtlCol="0" anchor="t"/>
          <a:lstStyle/>
          <a:p>
            <a:pPr indent="0" marL="0">
              <a:buNone/>
            </a:pPr>
            <a:r>
              <a:rPr lang="en-US" sz="1200" dirty="0">
                <a:solidFill>
                  <a:schemeClr val="tx2"/>
                </a:solidFill>
              </a:rPr>
              <a:t>support vectors of 40,197 (30%) — margin ≤ 1</a:t>
            </a:r>
            <a:endParaRPr lang="en-US" sz="1200" dirty="0"/>
          </a:p>
        </p:txBody>
      </p:sp>
      <p:graphicFrame>
        <p:nvGraphicFramePr>
          <p:cNvPr id="12" name="svm results"/>
          <p:cNvGraphicFramePr>
            <a:graphicFrameLocks noGrp="1"/>
          </p:cNvGraphicFramePr>
          <p:nvPr>
            <p:extLst>
              <p:ext uri="{D42A27DB-BD31-4B8C-83A1-F6EECF244321}">
                <p14:modId xmlns:p14="http://schemas.microsoft.com/office/powerpoint/2010/main" val="1579011935"/>
              </p:ext>
            </p:extLst>
          </p:nvPr>
        </p:nvGraphicFramePr>
        <p:xfrm>
          <a:off x="548640" y="2971800"/>
          <a:ext cx="6949440" cy="914400"/>
        </p:xfrm>
        <a:graphic>
          <a:graphicData uri="http://schemas.openxmlformats.org/drawingml/2006/table">
            <a:tbl>
              <a:tblPr/>
              <a:tblGrid>
                <a:gridCol w="4023360"/>
                <a:gridCol w="1463040"/>
                <a:gridCol w="1463040"/>
              </a:tblGrid>
              <a:tr h="384048">
                <a:tc>
                  <a:txBody>
                    <a:bodyPr/>
                    <a:lstStyle/>
                    <a:p>
                      <a:pPr indent="0" marL="0">
                        <a:buNone/>
                      </a:pPr>
                      <a:r>
                        <a:rPr lang="en-US" sz="1200" b="1" dirty="0">
                          <a:solidFill>
                            <a:srgbClr val="FFFFFF"/>
                          </a:solidFill>
                        </a:rPr>
                        <a:t>Task B, test set</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rPr>
                        <a:t>F1</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rPr>
                        <a:t>ROC-AUC</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r>
              <a:tr h="384048">
                <a:tc>
                  <a:txBody>
                    <a:bodyPr/>
                    <a:lstStyle/>
                    <a:p>
                      <a:pPr indent="0" marL="0">
                        <a:buNone/>
                      </a:pPr>
                      <a:r>
                        <a:rPr lang="en-US" sz="1200" dirty="0">
                          <a:solidFill>
                            <a:srgbClr val="1B2A41"/>
                          </a:solidFill>
                        </a:rPr>
                        <a:t>Ours: Pegasos (linear)</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b="1" dirty="0">
                          <a:solidFill>
                            <a:srgbClr val="1B2A41"/>
                          </a:solidFill>
                        </a:rPr>
                        <a:t>0.8971</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0.956</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dirty="0">
                          <a:solidFill>
                            <a:srgbClr val="1B2A41"/>
                          </a:solidFill>
                        </a:rPr>
                        <a:t>sklearn: SGDClassifier(hinge), same λ</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0.8989</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0.956</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dirty="0">
                          <a:solidFill>
                            <a:srgbClr val="1B2A41"/>
                          </a:solidFill>
                        </a:rPr>
                        <a:t>sklearn: LinearSVC, C = 1/(nλ)</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0.8934</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0.955</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dirty="0">
                          <a:solidFill>
                            <a:srgbClr val="1B2A41"/>
                          </a:solidFill>
                        </a:rPr>
                        <a:t>Ours: Pegasos + RFF (D = 300, γ = 0.01)</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0.8491</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0.933</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84048">
                <a:tc>
                  <a:txBody>
                    <a:bodyPr/>
                    <a:lstStyle/>
                    <a:p>
                      <a:pPr indent="0" marL="0">
                        <a:buNone/>
                      </a:pPr>
                      <a:r>
                        <a:rPr lang="en-US" sz="1200" dirty="0">
                          <a:solidFill>
                            <a:srgbClr val="1B2A41"/>
                          </a:solidFill>
                        </a:rPr>
                        <a:t>sklearn: SVC-RBF (15k subsample)</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0.8449</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200" dirty="0">
                          <a:solidFill>
                            <a:srgbClr val="1B2A41"/>
                          </a:solidFill>
                        </a:rPr>
                        <a:t>0.926</a:t>
                      </a:r>
                      <a:endParaRPr lang="en-US" sz="12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13" name="Text 10"/>
          <p:cNvSpPr txBox="1"/>
          <p:nvPr/>
        </p:nvSpPr>
        <p:spPr>
          <a:xfrm>
            <a:off x="7680960" y="1417320"/>
            <a:ext cx="3977640" cy="43891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Pegasos ≈ its sklearn twin: CV F1 0.8988 ± 0.0016 vs 0.9000 ± 0.0012.</a:t>
            </a:r>
            <a:endParaRPr lang="en-US" sz="1200" dirty="0"/>
          </a:p>
          <a:p>
            <a:pPr marL="342900" indent="-342900">
              <a:spcAft>
                <a:spcPts val="600"/>
              </a:spcAft>
              <a:buSzPct val="100000"/>
              <a:buChar char="•"/>
            </a:pPr>
            <a:r>
              <a:rPr lang="en-US" sz="1200" dirty="0">
                <a:solidFill>
                  <a:schemeClr val="tx1"/>
                </a:solidFill>
              </a:rPr>
              <a:t>Both RBF models — ours and sklearn's — lose 5 F1 points to linear: after one-hot encoding 46 of 55 features are binary and the premium boundary is near-linear in area + centrality; the RBF geometry mostly adds variance.</a:t>
            </a:r>
            <a:endParaRPr lang="en-US" sz="1200" dirty="0"/>
          </a:p>
          <a:p>
            <a:pPr marL="342900" indent="-342900">
              <a:spcAft>
                <a:spcPts val="600"/>
              </a:spcAft>
              <a:buSzPct val="100000"/>
              <a:buChar char="•"/>
            </a:pPr>
            <a:r>
              <a:rPr lang="en-US" sz="1200" dirty="0">
                <a:solidFill>
                  <a:schemeClr val="tx1"/>
                </a:solidFill>
              </a:rPr>
              <a:t>Two independent RBF implementations agreeing (0.849 vs 0.845) supports that reading.</a:t>
            </a:r>
            <a:endParaRPr lang="en-US" sz="1200" dirty="0"/>
          </a:p>
          <a:p>
            <a:pPr marL="342900" indent="-342900">
              <a:spcAft>
                <a:spcPts val="600"/>
              </a:spcAft>
              <a:buSzPct val="100000"/>
              <a:buChar char="•"/>
            </a:pPr>
            <a:r>
              <a:rPr lang="en-US" sz="1200" dirty="0">
                <a:solidFill>
                  <a:schemeClr val="tx1"/>
                </a:solidFill>
              </a:rPr>
              <a:t>SVC-RBF is O(n²): 16 s to fit on a 15k subsample and 11.5 s to predict — exactly why RFF was the right non-linearity at this scale.</a:t>
            </a:r>
            <a:endParaRPr lang="en-US" sz="1200" dirty="0"/>
          </a:p>
        </p:txBody>
      </p:sp>
      <p:sp>
        <p:nvSpPr>
          <p:cNvPr id="14"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15" name="Text 12"/>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A margin you can see: 30% of points inside it tells us the classes genuinely overlap near 208k — the label, not the model, is the limit.</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On both tasks the from-scratch models land within 0.002 of their scikit-learn twins</a:t>
            </a:r>
            <a:endParaRPr lang="en-US" sz="2600" dirty="0"/>
          </a:p>
        </p:txBody>
      </p:sp>
      <p:graphicFrame>
        <p:nvGraphicFramePr>
          <p:cNvPr id="13" name="task A table"/>
          <p:cNvGraphicFramePr>
            <a:graphicFrameLocks noGrp="1"/>
          </p:cNvGraphicFramePr>
          <p:nvPr>
            <p:extLst>
              <p:ext uri="{D42A27DB-BD31-4B8C-83A1-F6EECF244321}">
                <p14:modId xmlns:p14="http://schemas.microsoft.com/office/powerpoint/2010/main" val="1579011935"/>
              </p:ext>
            </p:extLst>
          </p:nvPr>
        </p:nvGraphicFramePr>
        <p:xfrm>
          <a:off x="548640" y="1371600"/>
          <a:ext cx="5577840" cy="914400"/>
        </p:xfrm>
        <a:graphic>
          <a:graphicData uri="http://schemas.openxmlformats.org/drawingml/2006/table">
            <a:tbl>
              <a:tblPr/>
              <a:tblGrid>
                <a:gridCol w="2834640"/>
                <a:gridCol w="914400"/>
                <a:gridCol w="914400"/>
                <a:gridCol w="914400"/>
              </a:tblGrid>
              <a:tr h="329184">
                <a:tc>
                  <a:txBody>
                    <a:bodyPr/>
                    <a:lstStyle/>
                    <a:p>
                      <a:pPr algn="l" indent="0" marL="0">
                        <a:buNone/>
                      </a:pPr>
                      <a:r>
                        <a:rPr lang="en-US" sz="1100" b="1" dirty="0">
                          <a:solidFill>
                            <a:srgbClr val="FFFFFF"/>
                          </a:solidFill>
                        </a:rPr>
                        <a:t>Task A — regression (test)</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rPr>
                        <a:t>RMSE log</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rPr>
                        <a:t>R² log</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rPr>
                        <a:t>MAE AZN</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r>
              <a:tr h="329184">
                <a:tc>
                  <a:txBody>
                    <a:bodyPr/>
                    <a:lstStyle/>
                    <a:p>
                      <a:pPr indent="0" marL="0">
                        <a:buNone/>
                      </a:pPr>
                      <a:r>
                        <a:rPr lang="en-US" sz="1100" dirty="0">
                          <a:solidFill>
                            <a:srgbClr val="1B2A41"/>
                          </a:solidFill>
                        </a:rPr>
                        <a:t>Ours: DecisionTree (mse)</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b="1" dirty="0">
                          <a:solidFill>
                            <a:srgbClr val="1B2A41"/>
                          </a:solidFill>
                        </a:rPr>
                        <a:t>0.2289</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0.865</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42,626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sklearn: DecisionTreeRegressor</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0.2287</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0.866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42,598</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Ours: RandomForest ×30 [bonus]</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0.2211</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0.874</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43,132</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sklearn: RandomForestRegressor ×30</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0.2166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0.879</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Ours: Ridge, normal equations [bonus]</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0.3006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0.768</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61,345</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Ours: LinearSVR, sub-gradient [bonus]</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0.3044</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0.762</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63,802</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graphicFrame>
        <p:nvGraphicFramePr>
          <p:cNvPr id="25" name="task B table"/>
          <p:cNvGraphicFramePr>
            <a:graphicFrameLocks noGrp="1"/>
          </p:cNvGraphicFramePr>
          <p:nvPr>
            <p:extLst>
              <p:ext uri="{D42A27DB-BD31-4B8C-83A1-F6EECF244321}">
                <p14:modId xmlns:p14="http://schemas.microsoft.com/office/powerpoint/2010/main" val="1579011935"/>
              </p:ext>
            </p:extLst>
          </p:nvPr>
        </p:nvGraphicFramePr>
        <p:xfrm>
          <a:off x="6355080" y="1371600"/>
          <a:ext cx="5303520" cy="914400"/>
        </p:xfrm>
        <a:graphic>
          <a:graphicData uri="http://schemas.openxmlformats.org/drawingml/2006/table">
            <a:tbl>
              <a:tblPr/>
              <a:tblGrid>
                <a:gridCol w="2834640"/>
                <a:gridCol w="822960"/>
                <a:gridCol w="822960"/>
                <a:gridCol w="822960"/>
              </a:tblGrid>
              <a:tr h="329184">
                <a:tc>
                  <a:txBody>
                    <a:bodyPr/>
                    <a:lstStyle/>
                    <a:p>
                      <a:pPr algn="l" indent="0" marL="0">
                        <a:buNone/>
                      </a:pPr>
                      <a:r>
                        <a:rPr lang="en-US" sz="1100" b="1" dirty="0">
                          <a:solidFill>
                            <a:srgbClr val="FFFFFF"/>
                          </a:solidFill>
                        </a:rPr>
                        <a:t>Task B — classification (test)</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rPr>
                        <a:t>Acc</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rPr>
                        <a:t>F1</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c>
                  <a:txBody>
                    <a:bodyPr/>
                    <a:lstStyle/>
                    <a:p>
                      <a:pPr algn="ctr" indent="0" marL="0">
                        <a:buNone/>
                      </a:pPr>
                      <a:r>
                        <a:rPr lang="en-US" sz="1100" b="1" dirty="0">
                          <a:solidFill>
                            <a:srgbClr val="FFFFFF"/>
                          </a:solidFill>
                        </a:rPr>
                        <a:t>AUC</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B2A41"/>
                    </a:solidFill>
                  </a:tcPr>
                </a:tc>
              </a:tr>
              <a:tr h="329184">
                <a:tc>
                  <a:txBody>
                    <a:bodyPr/>
                    <a:lstStyle/>
                    <a:p>
                      <a:pPr indent="0" marL="0">
                        <a:buNone/>
                      </a:pPr>
                      <a:r>
                        <a:rPr lang="en-US" sz="1100" dirty="0">
                          <a:solidFill>
                            <a:srgbClr val="1B2A41"/>
                          </a:solidFill>
                        </a:rPr>
                        <a:t>Ours: DecisionTree (gini, 16)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0.923</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b="1" dirty="0">
                          <a:solidFill>
                            <a:srgbClr val="1B2A41"/>
                          </a:solidFill>
                        </a:rPr>
                        <a:t>0.9228</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0.953</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sklearn: DecisionTreeClassifier</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0.924</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0.9233</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0.953</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Ours: PegasosSVM (linear)</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0.898</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b="1" dirty="0">
                          <a:solidFill>
                            <a:srgbClr val="1B2A41"/>
                          </a:solidFill>
                        </a:rPr>
                        <a:t>0.8971</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0.956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sklearn: SGDClassifier (hinge)</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0.899</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0.8989</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0.956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sklearn: LinearSVC</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0.894</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0.8934</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0.955</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Ours: Pegasos + RFF</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0.850</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0.8491</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0.933</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r h="329184">
                <a:tc>
                  <a:txBody>
                    <a:bodyPr/>
                    <a:lstStyle/>
                    <a:p>
                      <a:pPr indent="0" marL="0">
                        <a:buNone/>
                      </a:pPr>
                      <a:r>
                        <a:rPr lang="en-US" sz="1100" dirty="0">
                          <a:solidFill>
                            <a:srgbClr val="1B2A41"/>
                          </a:solidFill>
                        </a:rPr>
                        <a:t>sklearn: SVC-RBF (15k sub)</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0.846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0.8449</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c>
                  <a:txBody>
                    <a:bodyPr/>
                    <a:lstStyle/>
                    <a:p>
                      <a:pPr algn="ctr" indent="0" marL="0">
                        <a:buNone/>
                      </a:pPr>
                      <a:r>
                        <a:rPr lang="en-US" sz="1100" dirty="0">
                          <a:solidFill>
                            <a:srgbClr val="1B2A41"/>
                          </a:solidFill>
                        </a:rPr>
                        <a:t>0.926</a:t>
                      </a:r>
                      <a:endParaRPr lang="en-US" sz="1100" dirty="0"/>
                    </a:p>
                  </a:txBody>
                  <a:tcPr marL="91440" marR="91440" marT="45720" marB="45720">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tcPr>
                </a:tc>
              </a:tr>
            </a:tbl>
          </a:graphicData>
        </a:graphic>
      </p:graphicFrame>
      <p:sp>
        <p:nvSpPr>
          <p:cNvPr id="5" name="Text 1"/>
          <p:cNvSpPr txBox="1"/>
          <p:nvPr/>
        </p:nvSpPr>
        <p:spPr>
          <a:xfrm>
            <a:off x="548640" y="4526280"/>
            <a:ext cx="11091672" cy="1005840"/>
          </a:xfrm>
          <a:prstGeom prst="rect">
            <a:avLst/>
          </a:prstGeom>
          <a:noFill/>
          <a:ln/>
        </p:spPr>
        <p:txBody>
          <a:bodyPr wrap="square" lIns="0" tIns="0" rIns="0" bIns="0" rtlCol="0" anchor="t"/>
          <a:lstStyle/>
          <a:p>
            <a:pPr indent="0" marL="0">
              <a:buNone/>
            </a:pPr>
            <a:r>
              <a:rPr lang="en-US" sz="1150" dirty="0">
                <a:solidFill>
                  <a:schemeClr val="tx2"/>
                </a:solidFill>
              </a:rPr>
              <a:t>Uncertainty (5-fold CV, train+val pool, threshold and scaler refit per fold): tree RMSE 0.2298 ± 0.0022 vs 0.2295 ± 0.0021 · tree F1 0.9226 ± 0.0022 vs 0.9224 ± 0.0026 · Pegasos F1 0.8988 ± 0.0016 vs SGD 0.9000 ± 0.0012.  Fit / predict times: our tree ≈ 6 s / 0.04 s, sklearn 0.5 s / 0.003 s; Pegasos 2.2 s; SVC-RBF 16 s / 11.5 s.</a:t>
            </a:r>
            <a:endParaRPr lang="en-US" sz="1150" dirty="0"/>
          </a:p>
        </p:txBody>
      </p:sp>
      <p:sp>
        <p:nvSpPr>
          <p:cNvPr id="6"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7" name="Text 3"/>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Regression and classification are reported separately with task-appropriate metrics; no single number declares a winner.</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Errors cluster in three places: at the tier threshold, in the price tails, and in the periphery</a:t>
            </a:r>
            <a:endParaRPr lang="en-US" sz="2600" dirty="0"/>
          </a:p>
        </p:txBody>
      </p:sp>
      <p:pic>
        <p:nvPicPr>
          <p:cNvPr id="3" name="error analysis" descr="C:/Users/HP/Desktop/ML_Final_Project_Starter_08.10.2026/ML_Final_Project_Starter/report/figures/fig_error_analysis.png">    </p:cNvPr>
          <p:cNvPicPr>
            <a:picLocks noChangeAspect="1"/>
          </p:cNvPicPr>
          <p:nvPr/>
        </p:nvPicPr>
        <p:blipFill>
          <a:blip r:embed="rId1"/>
          <a:stretch>
            <a:fillRect/>
          </a:stretch>
        </p:blipFill>
        <p:spPr>
          <a:xfrm>
            <a:off x="548640" y="1410005"/>
            <a:ext cx="7498080" cy="2849270"/>
          </a:xfrm>
          <a:prstGeom prst="rect">
            <a:avLst/>
          </a:prstGeom>
        </p:spPr>
      </p:pic>
      <p:sp>
        <p:nvSpPr>
          <p:cNvPr id="4" name="stat card tree · SVM misclassifications whose true price is within ±15% of 208k AZN"/>
          <p:cNvSpPr/>
          <p:nvPr/>
        </p:nvSpPr>
        <p:spPr>
          <a:xfrm>
            <a:off x="8321040" y="1417320"/>
            <a:ext cx="3337560" cy="1234440"/>
          </a:xfrm>
          <a:prstGeom prst="roundRect">
            <a:avLst>
              <a:gd name="adj" fmla="val 5926"/>
            </a:avLst>
          </a:prstGeom>
          <a:solidFill>
            <a:schemeClr val="bg2"/>
          </a:solidFill>
          <a:ln w="12700">
            <a:solidFill>
              <a:schemeClr val="bg2"/>
            </a:solidFill>
            <a:prstDash val="solid"/>
          </a:ln>
        </p:spPr>
      </p:sp>
      <p:sp>
        <p:nvSpPr>
          <p:cNvPr id="5" name="Text 2"/>
          <p:cNvSpPr txBox="1"/>
          <p:nvPr/>
        </p:nvSpPr>
        <p:spPr>
          <a:xfrm>
            <a:off x="8503920" y="1508760"/>
            <a:ext cx="2971800" cy="64008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58% · 62%</a:t>
            </a:r>
            <a:endParaRPr lang="en-US" sz="3000" dirty="0"/>
          </a:p>
        </p:txBody>
      </p:sp>
      <p:sp>
        <p:nvSpPr>
          <p:cNvPr id="6" name="Text 3"/>
          <p:cNvSpPr txBox="1"/>
          <p:nvPr/>
        </p:nvSpPr>
        <p:spPr>
          <a:xfrm>
            <a:off x="8503920" y="2148840"/>
            <a:ext cx="2971800" cy="457200"/>
          </a:xfrm>
          <a:prstGeom prst="rect">
            <a:avLst/>
          </a:prstGeom>
          <a:noFill/>
          <a:ln/>
        </p:spPr>
        <p:txBody>
          <a:bodyPr wrap="square" lIns="0" tIns="0" rIns="0" bIns="0" rtlCol="0" anchor="t"/>
          <a:lstStyle/>
          <a:p>
            <a:pPr indent="0" marL="0">
              <a:buNone/>
            </a:pPr>
            <a:r>
              <a:rPr lang="en-US" sz="1200" dirty="0">
                <a:solidFill>
                  <a:schemeClr val="tx2"/>
                </a:solidFill>
              </a:rPr>
              <a:t>tree · SVM misclassifications whose true price is within ±15% of 208k AZN</a:t>
            </a:r>
            <a:endParaRPr lang="en-US" sz="1200" dirty="0"/>
          </a:p>
        </p:txBody>
      </p:sp>
      <p:sp>
        <p:nvSpPr>
          <p:cNvPr id="7" name="stat card median |error| in the cheapest · most expensive decile, vs 7–8% mid-market"/>
          <p:cNvSpPr/>
          <p:nvPr/>
        </p:nvSpPr>
        <p:spPr>
          <a:xfrm>
            <a:off x="8321040" y="2834640"/>
            <a:ext cx="3337560" cy="1234440"/>
          </a:xfrm>
          <a:prstGeom prst="roundRect">
            <a:avLst>
              <a:gd name="adj" fmla="val 5926"/>
            </a:avLst>
          </a:prstGeom>
          <a:solidFill>
            <a:schemeClr val="bg2"/>
          </a:solidFill>
          <a:ln w="12700">
            <a:solidFill>
              <a:schemeClr val="bg2"/>
            </a:solidFill>
            <a:prstDash val="solid"/>
          </a:ln>
        </p:spPr>
      </p:sp>
      <p:sp>
        <p:nvSpPr>
          <p:cNvPr id="8" name="Text 5"/>
          <p:cNvSpPr txBox="1"/>
          <p:nvPr/>
        </p:nvSpPr>
        <p:spPr>
          <a:xfrm>
            <a:off x="8503920" y="2926080"/>
            <a:ext cx="2971800" cy="64008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13% · 16%</a:t>
            </a:r>
            <a:endParaRPr lang="en-US" sz="3000" dirty="0"/>
          </a:p>
        </p:txBody>
      </p:sp>
      <p:sp>
        <p:nvSpPr>
          <p:cNvPr id="9" name="Text 6"/>
          <p:cNvSpPr txBox="1"/>
          <p:nvPr/>
        </p:nvSpPr>
        <p:spPr>
          <a:xfrm>
            <a:off x="8503920" y="3566160"/>
            <a:ext cx="2971800" cy="457200"/>
          </a:xfrm>
          <a:prstGeom prst="rect">
            <a:avLst/>
          </a:prstGeom>
          <a:noFill/>
          <a:ln/>
        </p:spPr>
        <p:txBody>
          <a:bodyPr wrap="square" lIns="0" tIns="0" rIns="0" bIns="0" rtlCol="0" anchor="t"/>
          <a:lstStyle/>
          <a:p>
            <a:pPr indent="0" marL="0">
              <a:buNone/>
            </a:pPr>
            <a:r>
              <a:rPr lang="en-US" sz="1200" dirty="0">
                <a:solidFill>
                  <a:schemeClr val="tx2"/>
                </a:solidFill>
              </a:rPr>
              <a:t>median |error| in the cheapest · most expensive decile, vs 7–8% mid-market</a:t>
            </a:r>
            <a:endParaRPr lang="en-US" sz="1200" dirty="0"/>
          </a:p>
        </p:txBody>
      </p:sp>
      <p:sp>
        <p:nvSpPr>
          <p:cNvPr id="10" name="Text 7"/>
          <p:cNvSpPr txBox="1"/>
          <p:nvPr/>
        </p:nvSpPr>
        <p:spPr>
          <a:xfrm>
            <a:off x="548640" y="4434840"/>
            <a:ext cx="7498080" cy="1188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Feature importances and SVM weights agree: area (≈ 59% of impurity decrease), then distance to centre, longitude, district.</a:t>
            </a:r>
            <a:endParaRPr lang="en-US" sz="1200" dirty="0"/>
          </a:p>
          <a:p>
            <a:pPr marL="342900" indent="-342900">
              <a:spcAft>
                <a:spcPts val="600"/>
              </a:spcAft>
              <a:buSzPct val="100000"/>
              <a:buChar char="•"/>
            </a:pPr>
            <a:r>
              <a:rPr lang="en-US" sz="1200" dirty="0">
                <a:solidFill>
                  <a:schemeClr val="tx1"/>
                </a:solidFill>
              </a:rPr>
              <a:t>Worst district: Mərdəkan (garden-house suburb) 16% median error; k-means segments: periphery 14–21% vs ≈ 8% in the dense core.</a:t>
            </a:r>
            <a:endParaRPr lang="en-US" sz="1200" dirty="0"/>
          </a:p>
          <a:p>
            <a:pPr marL="342900" indent="-342900">
              <a:spcAft>
                <a:spcPts val="600"/>
              </a:spcAft>
              <a:buSzPct val="100000"/>
              <a:buChar char="•"/>
            </a:pPr>
            <a:r>
              <a:rPr lang="en-US" sz="1200" dirty="0">
                <a:solidFill>
                  <a:schemeClr val="tx1"/>
                </a:solidFill>
              </a:rPr>
              <a:t>Both tails are priced on what we do not observe — condition at the bottom; finish, view and prestige at the top.</a:t>
            </a:r>
            <a:endParaRPr lang="en-US" sz="1200" dirty="0"/>
          </a:p>
        </p:txBody>
      </p:sp>
      <p:sp>
        <p:nvSpPr>
          <p:cNvPr id="11" name="Text 8"/>
          <p:cNvSpPr txBox="1"/>
          <p:nvPr/>
        </p:nvSpPr>
        <p:spPr>
          <a:xfrm>
            <a:off x="8321040" y="4434840"/>
            <a:ext cx="3337560" cy="1188720"/>
          </a:xfrm>
          <a:prstGeom prst="rect">
            <a:avLst/>
          </a:prstGeom>
          <a:noFill/>
          <a:ln/>
        </p:spPr>
        <p:txBody>
          <a:bodyPr wrap="square" lIns="0" tIns="0" rIns="0" bIns="0" rtlCol="0" anchor="t"/>
          <a:lstStyle/>
          <a:p>
            <a:pPr indent="0" marL="0">
              <a:buNone/>
            </a:pPr>
            <a:r>
              <a:rPr lang="en-US" sz="1200" i="1" dirty="0">
                <a:solidFill>
                  <a:schemeClr val="tx2"/>
                </a:solidFill>
              </a:rPr>
              <a:t>Classification errors near the threshold are largely irreducible under a median-split framing — the label itself is a coin flip there.</a:t>
            </a:r>
            <a:endParaRPr lang="en-US" sz="1200" dirty="0"/>
          </a:p>
        </p:txBody>
      </p:sp>
      <p:sp>
        <p:nvSpPr>
          <p:cNvPr id="12"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13" name="Text 10"/>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The remaining error is explained, not random: label noise at the cut, unobserved attributes in the tails, and sparse peripheral districts.</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Bonus studies: linear models cannot express area × location; a forest of our trees gains 0.008 RMSE</a:t>
            </a:r>
            <a:endParaRPr lang="en-US" sz="2600" dirty="0"/>
          </a:p>
        </p:txBody>
      </p:sp>
      <p:sp>
        <p:nvSpPr>
          <p:cNvPr id="3" name="card P8 · Ridge + SVR from scratch"/>
          <p:cNvSpPr/>
          <p:nvPr/>
        </p:nvSpPr>
        <p:spPr>
          <a:xfrm>
            <a:off x="548640" y="1417320"/>
            <a:ext cx="3566160" cy="2011680"/>
          </a:xfrm>
          <a:prstGeom prst="roundRect">
            <a:avLst>
              <a:gd name="adj" fmla="val 3636"/>
            </a:avLst>
          </a:prstGeom>
          <a:solidFill>
            <a:schemeClr val="bg2"/>
          </a:solidFill>
          <a:ln w="12700">
            <a:solidFill>
              <a:schemeClr val="bg2"/>
            </a:solidFill>
            <a:prstDash val="solid"/>
          </a:ln>
        </p:spPr>
      </p:sp>
      <p:sp>
        <p:nvSpPr>
          <p:cNvPr id="4" name="Text 2"/>
          <p:cNvSpPr txBox="1"/>
          <p:nvPr/>
        </p:nvSpPr>
        <p:spPr>
          <a:xfrm>
            <a:off x="731520" y="1554480"/>
            <a:ext cx="3200400" cy="365760"/>
          </a:xfrm>
          <a:prstGeom prst="rect">
            <a:avLst/>
          </a:prstGeom>
          <a:noFill/>
          <a:ln/>
        </p:spPr>
        <p:txBody>
          <a:bodyPr wrap="square" lIns="0" tIns="0" rIns="0" bIns="0" rtlCol="0" anchor="t"/>
          <a:lstStyle/>
          <a:p>
            <a:pPr indent="0" marL="0">
              <a:buNone/>
            </a:pPr>
            <a:r>
              <a:rPr lang="en-US" sz="1500" b="1" dirty="0">
                <a:solidFill>
                  <a:schemeClr val="accent2"/>
                </a:solidFill>
              </a:rPr>
              <a:t>P8 · Ridge + SVR from scratch</a:t>
            </a:r>
            <a:endParaRPr lang="en-US" sz="1500" dirty="0"/>
          </a:p>
        </p:txBody>
      </p:sp>
      <p:sp>
        <p:nvSpPr>
          <p:cNvPr id="5" name="Text 3"/>
          <p:cNvSpPr txBox="1"/>
          <p:nvPr/>
        </p:nvSpPr>
        <p:spPr>
          <a:xfrm>
            <a:off x="731520" y="1947672"/>
            <a:ext cx="3200400" cy="1371600"/>
          </a:xfrm>
          <a:prstGeom prst="rect">
            <a:avLst/>
          </a:prstGeom>
          <a:noFill/>
          <a:ln/>
        </p:spPr>
        <p:txBody>
          <a:bodyPr wrap="square" lIns="0" tIns="0" rIns="0" bIns="0" rtlCol="0" anchor="t"/>
          <a:lstStyle/>
          <a:p>
            <a:pPr indent="0" marL="0">
              <a:buNone/>
            </a:pPr>
            <a:r>
              <a:rPr lang="en-US" sz="1250" dirty="0">
                <a:solidFill>
                  <a:schemeClr val="tx1"/>
                </a:solidFill>
              </a:rPr>
              <a:t>Ridge via normal equations (bias unpenalised) equals sklearn to 10⁻¹⁵. Linear SVR by full-batch sub-gradient descent on the ε-insensitive loss equals LinearSVR to 4 decimals (ε chosen on validation).</a:t>
            </a:r>
            <a:endParaRPr lang="en-US" sz="1250" dirty="0"/>
          </a:p>
          <a:p>
            <a:pPr indent="0" marL="0">
              <a:buNone/>
            </a:pPr>
            <a:r>
              <a:rPr lang="en-US" sz="1250" dirty="0">
                <a:solidFill>
                  <a:schemeClr val="tx1"/>
                </a:solidFill>
              </a:rPr>
              <a:t>Both: RMSE_log ≈ 0.30 vs 0.23 for the tree.</a:t>
            </a:r>
            <a:endParaRPr lang="en-US" sz="1250" dirty="0"/>
          </a:p>
        </p:txBody>
      </p:sp>
      <p:sp>
        <p:nvSpPr>
          <p:cNvPr id="6" name="card P9 · Random forest of our trees"/>
          <p:cNvSpPr/>
          <p:nvPr/>
        </p:nvSpPr>
        <p:spPr>
          <a:xfrm>
            <a:off x="548640" y="3611880"/>
            <a:ext cx="3566160" cy="1920240"/>
          </a:xfrm>
          <a:prstGeom prst="roundRect">
            <a:avLst>
              <a:gd name="adj" fmla="val 3810"/>
            </a:avLst>
          </a:prstGeom>
          <a:solidFill>
            <a:schemeClr val="bg2"/>
          </a:solidFill>
          <a:ln w="12700">
            <a:solidFill>
              <a:schemeClr val="bg2"/>
            </a:solidFill>
            <a:prstDash val="solid"/>
          </a:ln>
        </p:spPr>
      </p:sp>
      <p:sp>
        <p:nvSpPr>
          <p:cNvPr id="7" name="Text 5"/>
          <p:cNvSpPr txBox="1"/>
          <p:nvPr/>
        </p:nvSpPr>
        <p:spPr>
          <a:xfrm>
            <a:off x="731520" y="3749040"/>
            <a:ext cx="3200400" cy="365760"/>
          </a:xfrm>
          <a:prstGeom prst="rect">
            <a:avLst/>
          </a:prstGeom>
          <a:noFill/>
          <a:ln/>
        </p:spPr>
        <p:txBody>
          <a:bodyPr wrap="square" lIns="0" tIns="0" rIns="0" bIns="0" rtlCol="0" anchor="t"/>
          <a:lstStyle/>
          <a:p>
            <a:pPr indent="0" marL="0">
              <a:buNone/>
            </a:pPr>
            <a:r>
              <a:rPr lang="en-US" sz="1500" b="1" dirty="0">
                <a:solidFill>
                  <a:schemeClr val="accent3"/>
                </a:solidFill>
              </a:rPr>
              <a:t>P9 · Random forest of our trees</a:t>
            </a:r>
            <a:endParaRPr lang="en-US" sz="1500" dirty="0"/>
          </a:p>
        </p:txBody>
      </p:sp>
      <p:sp>
        <p:nvSpPr>
          <p:cNvPr id="8" name="Text 6"/>
          <p:cNvSpPr txBox="1"/>
          <p:nvPr/>
        </p:nvSpPr>
        <p:spPr>
          <a:xfrm>
            <a:off x="731520" y="4142232"/>
            <a:ext cx="3200400" cy="1280160"/>
          </a:xfrm>
          <a:prstGeom prst="rect">
            <a:avLst/>
          </a:prstGeom>
          <a:noFill/>
          <a:ln/>
        </p:spPr>
        <p:txBody>
          <a:bodyPr wrap="square" lIns="0" tIns="0" rIns="0" bIns="0" rtlCol="0" anchor="t"/>
          <a:lstStyle/>
          <a:p>
            <a:pPr indent="0" marL="0">
              <a:buNone/>
            </a:pPr>
            <a:r>
              <a:rPr lang="en-US" sz="1250" dirty="0">
                <a:solidFill>
                  <a:schemeClr val="tx1"/>
                </a:solidFill>
              </a:rPr>
              <a:t>30 bootstrap trees, per-split √d feature subsampling via the tree's own max_features. Test RMSE_log 0.2289 → 0.2211; sklearn's forest 0.2166 with the same settings.</a:t>
            </a:r>
            <a:endParaRPr lang="en-US" sz="1250" dirty="0"/>
          </a:p>
        </p:txBody>
      </p:sp>
      <p:pic>
        <p:nvPicPr>
          <p:cNvPr id="9" name="forest curve" descr="C:/Users/HP/Desktop/ML_Final_Project_Starter_08.10.2026/ML_Final_Project_Starter/report/figures/fig_rf_curve.png">    </p:cNvPr>
          <p:cNvPicPr>
            <a:picLocks noChangeAspect="1"/>
          </p:cNvPicPr>
          <p:nvPr/>
        </p:nvPicPr>
        <p:blipFill>
          <a:blip r:embed="rId1"/>
          <a:stretch>
            <a:fillRect/>
          </a:stretch>
        </p:blipFill>
        <p:spPr>
          <a:xfrm>
            <a:off x="4343400" y="1516241"/>
            <a:ext cx="3749040" cy="2453917"/>
          </a:xfrm>
          <a:prstGeom prst="rect">
            <a:avLst/>
          </a:prstGeom>
        </p:spPr>
      </p:pic>
      <p:sp>
        <p:nvSpPr>
          <p:cNvPr id="10" name="card P10 · k-means + PCA market segments"/>
          <p:cNvSpPr/>
          <p:nvPr/>
        </p:nvSpPr>
        <p:spPr>
          <a:xfrm>
            <a:off x="4343400" y="4206240"/>
            <a:ext cx="7315200" cy="1371600"/>
          </a:xfrm>
          <a:prstGeom prst="roundRect">
            <a:avLst>
              <a:gd name="adj" fmla="val 5333"/>
            </a:avLst>
          </a:prstGeom>
          <a:solidFill>
            <a:schemeClr val="bg2"/>
          </a:solidFill>
          <a:ln w="12700">
            <a:solidFill>
              <a:schemeClr val="bg2"/>
            </a:solidFill>
            <a:prstDash val="solid"/>
          </a:ln>
        </p:spPr>
      </p:sp>
      <p:sp>
        <p:nvSpPr>
          <p:cNvPr id="11" name="Text 8"/>
          <p:cNvSpPr txBox="1"/>
          <p:nvPr/>
        </p:nvSpPr>
        <p:spPr>
          <a:xfrm>
            <a:off x="4526280" y="4343400"/>
            <a:ext cx="6949440" cy="365760"/>
          </a:xfrm>
          <a:prstGeom prst="rect">
            <a:avLst/>
          </a:prstGeom>
          <a:noFill/>
          <a:ln/>
        </p:spPr>
        <p:txBody>
          <a:bodyPr wrap="square" lIns="0" tIns="0" rIns="0" bIns="0" rtlCol="0" anchor="t"/>
          <a:lstStyle/>
          <a:p>
            <a:pPr indent="0" marL="0">
              <a:buNone/>
            </a:pPr>
            <a:r>
              <a:rPr lang="en-US" sz="1500" b="1" dirty="0">
                <a:solidFill>
                  <a:schemeClr val="accent1"/>
                </a:solidFill>
              </a:rPr>
              <a:t>P10 · k-means + PCA market segments</a:t>
            </a:r>
            <a:endParaRPr lang="en-US" sz="1500" dirty="0"/>
          </a:p>
        </p:txBody>
      </p:sp>
      <p:sp>
        <p:nvSpPr>
          <p:cNvPr id="12" name="Text 9"/>
          <p:cNvSpPr txBox="1"/>
          <p:nvPr/>
        </p:nvSpPr>
        <p:spPr>
          <a:xfrm>
            <a:off x="4526280" y="4736592"/>
            <a:ext cx="6949440" cy="731520"/>
          </a:xfrm>
          <a:prstGeom prst="rect">
            <a:avLst/>
          </a:prstGeom>
          <a:noFill/>
          <a:ln/>
        </p:spPr>
        <p:txBody>
          <a:bodyPr wrap="square" lIns="0" tIns="0" rIns="0" bIns="0" rtlCol="0" anchor="t"/>
          <a:lstStyle/>
          <a:p>
            <a:pPr indent="0" marL="0">
              <a:buNone/>
            </a:pPr>
            <a:r>
              <a:rPr lang="en-US" sz="1250" dirty="0">
                <a:solidFill>
                  <a:schemeClr val="tx1"/>
                </a:solidFill>
              </a:rPr>
              <a:t>k = 8 on coordinates (fit on non-test rows), PCA of the feature space coloured by segment: core Baku, coastal belt, garden suburbs. Segment error 8% (core) → 21% (periphery) sharpens the error analysis.</a:t>
            </a:r>
            <a:endParaRPr lang="en-US" sz="1250" dirty="0"/>
          </a:p>
        </p:txBody>
      </p:sp>
      <p:pic>
        <p:nvPicPr>
          <p:cNvPr id="13" name="kmeans" descr="C:/Users/HP/Desktop/ML_Final_Project_Starter_08.10.2026/ML_Final_Project_Starter/report/figures/fig_kmeans.png">    </p:cNvPr>
          <p:cNvPicPr>
            <a:picLocks noChangeAspect="1"/>
          </p:cNvPicPr>
          <p:nvPr/>
        </p:nvPicPr>
        <p:blipFill>
          <a:blip r:embed="rId2"/>
          <a:stretch>
            <a:fillRect/>
          </a:stretch>
        </p:blipFill>
        <p:spPr>
          <a:xfrm>
            <a:off x="8229600" y="2215662"/>
            <a:ext cx="3429000" cy="1055077"/>
          </a:xfrm>
          <a:prstGeom prst="rect">
            <a:avLst/>
          </a:prstGeom>
        </p:spPr>
      </p:pic>
      <p:sp>
        <p:nvSpPr>
          <p:cNvPr id="14"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15" name="Text 11"/>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Each bonus reuses the core code: the forest is our tree with max_features; the SVR is Pegasos with a tube loss; Ridge is the derivation from the exam.</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14400"/>
          </a:xfrm>
          <a:prstGeom prst="rect">
            <a:avLst/>
          </a:prstGeom>
          <a:noFill/>
          <a:ln/>
        </p:spPr>
        <p:txBody>
          <a:bodyPr wrap="square" lIns="0" tIns="0" rIns="0" bIns="0" rtlCol="0" anchor="t"/>
          <a:lstStyle/>
          <a:p>
            <a:pPr algn="l" indent="0" marL="0">
              <a:buNone/>
            </a:pPr>
            <a:r>
              <a:rPr lang="en-US" sz="2600" b="1" dirty="0">
                <a:solidFill>
                  <a:srgbClr val="1B2A41"/>
                </a:solidFill>
              </a:rPr>
              <a:t>Reproducible by one command, tested against the library — and honest about what the models cannot see</a:t>
            </a:r>
            <a:endParaRPr lang="en-US" sz="2600" dirty="0"/>
          </a:p>
        </p:txBody>
      </p:sp>
      <p:sp>
        <p:nvSpPr>
          <p:cNvPr id="3" name="card Engineering quality"/>
          <p:cNvSpPr/>
          <p:nvPr/>
        </p:nvSpPr>
        <p:spPr>
          <a:xfrm>
            <a:off x="548640" y="1417320"/>
            <a:ext cx="5394960" cy="4114800"/>
          </a:xfrm>
          <a:prstGeom prst="roundRect">
            <a:avLst>
              <a:gd name="adj" fmla="val 1778"/>
            </a:avLst>
          </a:prstGeom>
          <a:solidFill>
            <a:schemeClr val="bg2"/>
          </a:solidFill>
          <a:ln w="12700">
            <a:solidFill>
              <a:schemeClr val="bg2"/>
            </a:solidFill>
            <a:prstDash val="solid"/>
          </a:ln>
        </p:spPr>
      </p:sp>
      <p:sp>
        <p:nvSpPr>
          <p:cNvPr id="4" name="Text 2"/>
          <p:cNvSpPr txBox="1"/>
          <p:nvPr/>
        </p:nvSpPr>
        <p:spPr>
          <a:xfrm>
            <a:off x="731520" y="1554480"/>
            <a:ext cx="5029200" cy="365760"/>
          </a:xfrm>
          <a:prstGeom prst="rect">
            <a:avLst/>
          </a:prstGeom>
          <a:noFill/>
          <a:ln/>
        </p:spPr>
        <p:txBody>
          <a:bodyPr wrap="square" lIns="0" tIns="0" rIns="0" bIns="0" rtlCol="0" anchor="t"/>
          <a:lstStyle/>
          <a:p>
            <a:pPr indent="0" marL="0">
              <a:buNone/>
            </a:pPr>
            <a:r>
              <a:rPr lang="en-US" sz="1500" b="1" dirty="0">
                <a:solidFill>
                  <a:schemeClr val="accent2"/>
                </a:solidFill>
              </a:rPr>
              <a:t>Engineering quality</a:t>
            </a:r>
            <a:endParaRPr lang="en-US" sz="1500" dirty="0"/>
          </a:p>
        </p:txBody>
      </p:sp>
      <p:sp>
        <p:nvSpPr>
          <p:cNvPr id="5" name="Text 3"/>
          <p:cNvSpPr txBox="1"/>
          <p:nvPr/>
        </p:nvSpPr>
        <p:spPr>
          <a:xfrm>
            <a:off x="731520" y="1947672"/>
            <a:ext cx="5029200" cy="3474720"/>
          </a:xfrm>
          <a:prstGeom prst="rect">
            <a:avLst/>
          </a:prstGeom>
          <a:noFill/>
          <a:ln/>
        </p:spPr>
        <p:txBody>
          <a:bodyPr wrap="square" lIns="0" tIns="0" rIns="0" bIns="0" rtlCol="0" anchor="t"/>
          <a:lstStyle/>
          <a:p>
            <a:pPr indent="0" marL="0">
              <a:buNone/>
            </a:pPr>
            <a:r>
              <a:rPr lang="en-US" sz="1250" dirty="0">
                <a:solidFill>
                  <a:schemeClr val="tx1"/>
                </a:solidFill>
              </a:rPr>
              <a:t>• Seed 42 everywhere: split, solvers, baselines.</a:t>
            </a:r>
            <a:endParaRPr lang="en-US" sz="1250" dirty="0"/>
          </a:p>
          <a:p>
            <a:pPr indent="0" marL="0">
              <a:buNone/>
            </a:pPr>
            <a:r>
              <a:rPr lang="en-US" sz="1250" dirty="0">
                <a:solidFill>
                  <a:schemeClr val="tx1"/>
                </a:solidFill>
              </a:rPr>
              <a:t>• python -m src.run_all — runs 10 sanity tests, then regenerates every number, table and figure (≈ 10 min).</a:t>
            </a:r>
            <a:endParaRPr lang="en-US" sz="1250" dirty="0"/>
          </a:p>
          <a:p>
            <a:pPr indent="0" marL="0">
              <a:buNone/>
            </a:pPr>
            <a:r>
              <a:rPr lang="en-US" sz="1250" dirty="0">
                <a:solidFill>
                  <a:schemeClr val="tx1"/>
                </a:solidFill>
              </a:rPr>
              <a:t>• Tests pin our tree to sklearn's split on fully-determined examples; Pegasos ≈ LinearSVC; SVR ≈ LinearSVR; Ridge ≡ Ridge; metrics ≡ sklearn to 10⁻⁹; split balance.</a:t>
            </a:r>
            <a:endParaRPr lang="en-US" sz="1250" dirty="0"/>
          </a:p>
          <a:p>
            <a:pPr indent="0" marL="0">
              <a:buNone/>
            </a:pPr>
            <a:r>
              <a:rPr lang="en-US" sz="1250" dirty="0">
                <a:solidFill>
                  <a:schemeClr val="tx1"/>
                </a:solidFill>
              </a:rPr>
              <a:t>• Pinned requirements, dataset not committed, cleaning log with row counts, results.json + tables.md as artefacts.</a:t>
            </a:r>
            <a:endParaRPr lang="en-US" sz="1250" dirty="0"/>
          </a:p>
          <a:p>
            <a:pPr indent="0" marL="0">
              <a:buNone/>
            </a:pPr>
            <a:r>
              <a:rPr lang="en-US" sz="1250" dirty="0">
                <a:solidFill>
                  <a:schemeClr val="tx1"/>
                </a:solidFill>
              </a:rPr>
              <a:t>• Modules: data_prep · decision_tree · svm · baselines · ensemble · evaluate · run_all.</a:t>
            </a:r>
            <a:endParaRPr lang="en-US" sz="1250" dirty="0"/>
          </a:p>
        </p:txBody>
      </p:sp>
      <p:sp>
        <p:nvSpPr>
          <p:cNvPr id="6" name="card Limitations and threats to validity"/>
          <p:cNvSpPr/>
          <p:nvPr/>
        </p:nvSpPr>
        <p:spPr>
          <a:xfrm>
            <a:off x="6263640" y="1417320"/>
            <a:ext cx="5394960" cy="4114800"/>
          </a:xfrm>
          <a:prstGeom prst="roundRect">
            <a:avLst>
              <a:gd name="adj" fmla="val 1778"/>
            </a:avLst>
          </a:prstGeom>
          <a:solidFill>
            <a:schemeClr val="bg2"/>
          </a:solidFill>
          <a:ln w="12700">
            <a:solidFill>
              <a:schemeClr val="bg2"/>
            </a:solidFill>
            <a:prstDash val="solid"/>
          </a:ln>
        </p:spPr>
      </p:sp>
      <p:sp>
        <p:nvSpPr>
          <p:cNvPr id="7" name="Text 5"/>
          <p:cNvSpPr txBox="1"/>
          <p:nvPr/>
        </p:nvSpPr>
        <p:spPr>
          <a:xfrm>
            <a:off x="6446520" y="1554480"/>
            <a:ext cx="5029200" cy="365760"/>
          </a:xfrm>
          <a:prstGeom prst="rect">
            <a:avLst/>
          </a:prstGeom>
          <a:noFill/>
          <a:ln/>
        </p:spPr>
        <p:txBody>
          <a:bodyPr wrap="square" lIns="0" tIns="0" rIns="0" bIns="0" rtlCol="0" anchor="t"/>
          <a:lstStyle/>
          <a:p>
            <a:pPr indent="0" marL="0">
              <a:buNone/>
            </a:pPr>
            <a:r>
              <a:rPr lang="en-US" sz="1500" b="1" dirty="0">
                <a:solidFill>
                  <a:schemeClr val="accent4"/>
                </a:solidFill>
              </a:rPr>
              <a:t>Limitations and threats to validity</a:t>
            </a:r>
            <a:endParaRPr lang="en-US" sz="1500" dirty="0"/>
          </a:p>
        </p:txBody>
      </p:sp>
      <p:sp>
        <p:nvSpPr>
          <p:cNvPr id="8" name="Text 6"/>
          <p:cNvSpPr txBox="1"/>
          <p:nvPr/>
        </p:nvSpPr>
        <p:spPr>
          <a:xfrm>
            <a:off x="6446520" y="1947672"/>
            <a:ext cx="5029200" cy="3474720"/>
          </a:xfrm>
          <a:prstGeom prst="rect">
            <a:avLst/>
          </a:prstGeom>
          <a:noFill/>
          <a:ln/>
        </p:spPr>
        <p:txBody>
          <a:bodyPr wrap="square" lIns="0" tIns="0" rIns="0" bIns="0" rtlCol="0" anchor="t"/>
          <a:lstStyle/>
          <a:p>
            <a:pPr indent="0" marL="0">
              <a:buNone/>
            </a:pPr>
            <a:r>
              <a:rPr lang="en-US" sz="1250" dirty="0">
                <a:solidFill>
                  <a:schemeClr val="tx1"/>
                </a:solidFill>
              </a:rPr>
              <a:t>• Asking prices, not transactions — every model learns seller behaviour.</a:t>
            </a:r>
            <a:endParaRPr lang="en-US" sz="1250" dirty="0"/>
          </a:p>
          <a:p>
            <a:pPr indent="0" marL="0">
              <a:buNone/>
            </a:pPr>
            <a:r>
              <a:rPr lang="en-US" sz="1250" dirty="0">
                <a:solidFill>
                  <a:schemeClr val="tx1"/>
                </a:solidFill>
              </a:rPr>
              <a:t>• 99.7% of rows are Baku; nothing here generalises to other cities.</a:t>
            </a:r>
            <a:endParaRPr lang="en-US" sz="1250" dirty="0"/>
          </a:p>
          <a:p>
            <a:pPr indent="0" marL="0">
              <a:buNone/>
            </a:pPr>
            <a:r>
              <a:rPr lang="en-US" sz="1250" dirty="0">
                <a:solidFill>
                  <a:schemeClr val="tx1"/>
                </a:solidFill>
              </a:rPr>
              <a:t>• Median-split tier makes the label noisy at the cut; ~60% of errors live there.</a:t>
            </a:r>
            <a:endParaRPr lang="en-US" sz="1250" dirty="0"/>
          </a:p>
          <a:p>
            <a:pPr indent="0" marL="0">
              <a:buNone/>
            </a:pPr>
            <a:r>
              <a:rPr lang="en-US" sz="1250" dirty="0">
                <a:solidFill>
                  <a:schemeClr val="tx1"/>
                </a:solidFill>
              </a:rPr>
              <a:t>• exp(log-prediction) estimates the median, biasing AZN metrics for expensive listings (smearing would fix it).</a:t>
            </a:r>
            <a:endParaRPr lang="en-US" sz="1250" dirty="0"/>
          </a:p>
          <a:p>
            <a:pPr indent="0" marL="0">
              <a:buNone/>
            </a:pPr>
            <a:r>
              <a:rPr lang="en-US" sz="1250" dirty="0">
                <a:solidFill>
                  <a:schemeClr val="tx1"/>
                </a:solidFill>
              </a:rPr>
              <a:t>• RFF tuned over a small γ grid with D = 300; SVC-RBF benchmarked on a 15k subsample.</a:t>
            </a:r>
            <a:endParaRPr lang="en-US" sz="1250" dirty="0"/>
          </a:p>
          <a:p>
            <a:pPr indent="0" marL="0">
              <a:buNone/>
            </a:pPr>
            <a:r>
              <a:rPr lang="en-US" sz="1250" dirty="0">
                <a:solidFill>
                  <a:schemeClr val="tx1"/>
                </a:solidFill>
              </a:rPr>
              <a:t>• Free-text descriptions (renovation, view) unused — likely where the luxury-tail signal lives.</a:t>
            </a:r>
            <a:endParaRPr lang="en-US" sz="1250" dirty="0"/>
          </a:p>
        </p:txBody>
      </p:sp>
      <p:sp>
        <p:nvSpPr>
          <p:cNvPr id="9" name="takeaway band"/>
          <p:cNvSpPr/>
          <p:nvPr/>
        </p:nvSpPr>
        <p:spPr>
          <a:xfrm>
            <a:off x="548640" y="5742432"/>
            <a:ext cx="11091672" cy="502920"/>
          </a:xfrm>
          <a:prstGeom prst="rect">
            <a:avLst/>
          </a:prstGeom>
          <a:solidFill>
            <a:schemeClr val="bg2"/>
          </a:solidFill>
          <a:ln w="12700">
            <a:solidFill>
              <a:schemeClr val="bg2"/>
            </a:solidFill>
            <a:prstDash val="solid"/>
          </a:ln>
        </p:spPr>
      </p:sp>
      <p:sp>
        <p:nvSpPr>
          <p:cNvPr id="10" name="Text 8"/>
          <p:cNvSpPr txBox="1"/>
          <p:nvPr/>
        </p:nvSpPr>
        <p:spPr>
          <a:xfrm>
            <a:off x="731520" y="5742432"/>
            <a:ext cx="10725912" cy="502920"/>
          </a:xfrm>
          <a:prstGeom prst="rect">
            <a:avLst/>
          </a:prstGeom>
          <a:noFill/>
          <a:ln/>
        </p:spPr>
        <p:txBody>
          <a:bodyPr wrap="square" lIns="0" tIns="0" rIns="0" bIns="0" rtlCol="0" anchor="ctr"/>
          <a:lstStyle/>
          <a:p>
            <a:pPr indent="0" marL="0">
              <a:buNone/>
            </a:pPr>
            <a:r>
              <a:rPr lang="en-US" sz="1350" b="1" dirty="0">
                <a:solidFill>
                  <a:schemeClr val="accent1"/>
                </a:solidFill>
              </a:rPr>
              <a:t>Takeaway  </a:t>
            </a:r>
            <a:pPr indent="0" marL="0">
              <a:buNone/>
            </a:pPr>
            <a:r>
              <a:rPr lang="en-US" sz="1350" dirty="0">
                <a:solidFill>
                  <a:schemeClr val="tx1"/>
                </a:solidFill>
              </a:rPr>
              <a:t>Every claim on these slides is tied to a file in the repository and a number in results.json.</a:t>
            </a:r>
            <a:endParaRPr lang="en-US" sz="135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1672" cy="1463040"/>
          </a:xfrm>
          <a:prstGeom prst="rect">
            <a:avLst/>
          </a:prstGeom>
          <a:noFill/>
          <a:ln/>
        </p:spPr>
        <p:txBody>
          <a:bodyPr wrap="square" lIns="0" tIns="0" rIns="0" bIns="0" rtlCol="0" anchor="b"/>
          <a:lstStyle/>
          <a:p>
            <a:pPr algn="l" indent="0" marL="0">
              <a:buNone/>
            </a:pPr>
            <a:r>
              <a:rPr lang="en-US" sz="4000" b="1" dirty="0">
                <a:solidFill>
                  <a:srgbClr val="FFFFFF"/>
                </a:solidFill>
              </a:rPr>
              <a:t>The classical algorithms are small — the library's edge is engineering</a:t>
            </a:r>
            <a:endParaRPr lang="en-US" sz="4000" dirty="0"/>
          </a:p>
        </p:txBody>
      </p:sp>
      <p:sp>
        <p:nvSpPr>
          <p:cNvPr id="3" name="Text 0"/>
          <p:cNvSpPr/>
          <p:nvPr>
            <p:ph idx="101" type="body" hasCustomPrompt="1"/>
          </p:nvPr>
        </p:nvSpPr>
        <p:spPr>
          <a:xfrm>
            <a:off x="548640" y="3703320"/>
            <a:ext cx="11091672" cy="2194560"/>
          </a:xfrm>
          <a:prstGeom prst="rect">
            <a:avLst/>
          </a:prstGeom>
          <a:noFill/>
          <a:ln/>
        </p:spPr>
        <p:txBody>
          <a:bodyPr wrap="square" lIns="0" tIns="0" rIns="0" bIns="0" rtlCol="0" anchor="t"/>
          <a:lstStyle/>
          <a:p>
            <a:pPr algn="l" indent="0" marL="0">
              <a:buNone/>
            </a:pPr>
            <a:r>
              <a:rPr lang="en-US" sz="1800" dirty="0">
                <a:solidFill>
                  <a:srgbClr val="CADCFC"/>
                </a:solidFill>
              </a:rPr>
              <a:t>Tree 0.2289 vs 0.2287 RMSE(log), F1 0.9228 vs 0.9233 · Pegasos F1 0.8971 vs 0.8989 · SVR = LinearSVR</a:t>
            </a:r>
            <a:endParaRPr lang="en-US" sz="1800" dirty="0"/>
          </a:p>
          <a:p>
            <a:pPr algn="l" indent="0" marL="0">
              <a:buNone/>
            </a:pPr>
            <a:r>
              <a:rPr lang="en-US" sz="1800" dirty="0">
                <a:solidFill>
                  <a:srgbClr val="CADCFC"/>
                </a:solidFill>
              </a:rPr>
              <a:t>Next: text features · group split by building · quantile forest · smearing-corrected AZN metrics</a:t>
            </a:r>
            <a:endParaRPr lang="en-US" sz="1800" dirty="0"/>
          </a:p>
        </p:txBody>
      </p:sp>
      <p:graphicFrame>
        <p:nvGraphicFramePr>
          <p:cNvPr id="17" name="contributions"/>
          <p:cNvGraphicFramePr>
            <a:graphicFrameLocks noGrp="1"/>
          </p:cNvGraphicFramePr>
          <p:nvPr>
            <p:extLst>
              <p:ext uri="{D42A27DB-BD31-4B8C-83A1-F6EECF244321}">
                <p14:modId xmlns:p14="http://schemas.microsoft.com/office/powerpoint/2010/main" val="1579011935"/>
              </p:ext>
            </p:extLst>
          </p:nvPr>
        </p:nvGraphicFramePr>
        <p:xfrm>
          <a:off x="548640" y="5029200"/>
          <a:ext cx="11091672" cy="914400"/>
        </p:xfrm>
        <a:graphic>
          <a:graphicData uri="http://schemas.openxmlformats.org/drawingml/2006/table">
            <a:tbl>
              <a:tblPr/>
              <a:tblGrid>
                <a:gridCol w="2377440"/>
                <a:gridCol w="8714232"/>
              </a:tblGrid>
              <a:tr h="329184">
                <a:tc>
                  <a:txBody>
                    <a:bodyPr/>
                    <a:lstStyle/>
                    <a:p>
                      <a:pPr indent="0" marL="0">
                        <a:buNone/>
                      </a:pPr>
                      <a:r>
                        <a:rPr lang="en-US" sz="1100" b="1" dirty="0">
                          <a:solidFill>
                            <a:srgbClr val="FFFFFF"/>
                          </a:solidFill>
                        </a:rPr>
                        <a:t>Alish Hajiyev</a:t>
                      </a:r>
                      <a:endParaRPr lang="en-US" sz="1100" dirty="0"/>
                    </a:p>
                  </a:txBody>
                  <a:tcPr marL="91440" marR="91440" marT="45720" marB="45720">
                    <a:lnL w="6350" cap="flat" cmpd="sng" algn="ctr">
                      <a:solidFill>
                        <a:srgbClr val="1B2A41"/>
                      </a:solidFill>
                      <a:prstDash val="solid"/>
                      <a:round/>
                      <a:headEnd type="none" w="med" len="med"/>
                      <a:tailEnd type="none" w="med" len="med"/>
                    </a:lnL>
                    <a:lnR w="6350" cap="flat" cmpd="sng" algn="ctr">
                      <a:solidFill>
                        <a:srgbClr val="1B2A41"/>
                      </a:solidFill>
                      <a:prstDash val="solid"/>
                      <a:round/>
                      <a:headEnd type="none" w="med" len="med"/>
                      <a:tailEnd type="none" w="med" len="med"/>
                    </a:lnR>
                    <a:lnT w="6350" cap="flat" cmpd="sng" algn="ctr">
                      <a:solidFill>
                        <a:srgbClr val="1B2A41"/>
                      </a:solidFill>
                      <a:prstDash val="solid"/>
                      <a:round/>
                      <a:headEnd type="none" w="med" len="med"/>
                      <a:tailEnd type="none" w="med" len="med"/>
                    </a:lnT>
                    <a:lnB w="6350" cap="flat" cmpd="sng" algn="ctr">
                      <a:solidFill>
                        <a:srgbClr val="1B2A41"/>
                      </a:solidFill>
                      <a:prstDash val="solid"/>
                      <a:round/>
                      <a:headEnd type="none" w="med" len="med"/>
                      <a:tailEnd type="none" w="med" len="med"/>
                    </a:lnB>
                  </a:tcPr>
                </a:tc>
                <a:tc>
                  <a:txBody>
                    <a:bodyPr/>
                    <a:lstStyle/>
                    <a:p>
                      <a:pPr indent="0" marL="0">
                        <a:buNone/>
                      </a:pPr>
                      <a:r>
                        <a:rPr lang="en-US" sz="1100" dirty="0">
                          <a:solidFill>
                            <a:srgbClr val="CADCFC"/>
                          </a:solidFill>
                        </a:rPr>
                        <a:t>Pegasos SVM, LR schedules, margin &amp; support vectors, random Fourier features, SVR bonus</a:t>
                      </a:r>
                      <a:endParaRPr lang="en-US" sz="1100" dirty="0"/>
                    </a:p>
                  </a:txBody>
                  <a:tcPr marL="91440" marR="91440" marT="45720" marB="45720">
                    <a:lnL w="6350" cap="flat" cmpd="sng" algn="ctr">
                      <a:solidFill>
                        <a:srgbClr val="1B2A41"/>
                      </a:solidFill>
                      <a:prstDash val="solid"/>
                      <a:round/>
                      <a:headEnd type="none" w="med" len="med"/>
                      <a:tailEnd type="none" w="med" len="med"/>
                    </a:lnL>
                    <a:lnR w="6350" cap="flat" cmpd="sng" algn="ctr">
                      <a:solidFill>
                        <a:srgbClr val="1B2A41"/>
                      </a:solidFill>
                      <a:prstDash val="solid"/>
                      <a:round/>
                      <a:headEnd type="none" w="med" len="med"/>
                      <a:tailEnd type="none" w="med" len="med"/>
                    </a:lnR>
                    <a:lnT w="6350" cap="flat" cmpd="sng" algn="ctr">
                      <a:solidFill>
                        <a:srgbClr val="1B2A41"/>
                      </a:solidFill>
                      <a:prstDash val="solid"/>
                      <a:round/>
                      <a:headEnd type="none" w="med" len="med"/>
                      <a:tailEnd type="none" w="med" len="med"/>
                    </a:lnT>
                    <a:lnB w="6350" cap="flat" cmpd="sng" algn="ctr">
                      <a:solidFill>
                        <a:srgbClr val="1B2A41"/>
                      </a:solidFill>
                      <a:prstDash val="solid"/>
                      <a:round/>
                      <a:headEnd type="none" w="med" len="med"/>
                      <a:tailEnd type="none" w="med" len="med"/>
                    </a:lnB>
                  </a:tcPr>
                </a:tc>
              </a:tr>
              <a:tr h="329184">
                <a:tc>
                  <a:txBody>
                    <a:bodyPr/>
                    <a:lstStyle/>
                    <a:p>
                      <a:pPr indent="0" marL="0">
                        <a:buNone/>
                      </a:pPr>
                      <a:r>
                        <a:rPr lang="en-US" sz="1100" b="1" dirty="0">
                          <a:solidFill>
                            <a:srgbClr val="FFFFFF"/>
                          </a:solidFill>
                        </a:rPr>
                        <a:t>Tahmina Hüseynova</a:t>
                      </a:r>
                      <a:endParaRPr lang="en-US" sz="1100" dirty="0"/>
                    </a:p>
                  </a:txBody>
                  <a:tcPr marL="91440" marR="91440" marT="45720" marB="45720">
                    <a:lnL w="6350" cap="flat" cmpd="sng" algn="ctr">
                      <a:solidFill>
                        <a:srgbClr val="1B2A41"/>
                      </a:solidFill>
                      <a:prstDash val="solid"/>
                      <a:round/>
                      <a:headEnd type="none" w="med" len="med"/>
                      <a:tailEnd type="none" w="med" len="med"/>
                    </a:lnL>
                    <a:lnR w="6350" cap="flat" cmpd="sng" algn="ctr">
                      <a:solidFill>
                        <a:srgbClr val="1B2A41"/>
                      </a:solidFill>
                      <a:prstDash val="solid"/>
                      <a:round/>
                      <a:headEnd type="none" w="med" len="med"/>
                      <a:tailEnd type="none" w="med" len="med"/>
                    </a:lnR>
                    <a:lnT w="6350" cap="flat" cmpd="sng" algn="ctr">
                      <a:solidFill>
                        <a:srgbClr val="1B2A41"/>
                      </a:solidFill>
                      <a:prstDash val="solid"/>
                      <a:round/>
                      <a:headEnd type="none" w="med" len="med"/>
                      <a:tailEnd type="none" w="med" len="med"/>
                    </a:lnT>
                    <a:lnB w="6350" cap="flat" cmpd="sng" algn="ctr">
                      <a:solidFill>
                        <a:srgbClr val="1B2A41"/>
                      </a:solidFill>
                      <a:prstDash val="solid"/>
                      <a:round/>
                      <a:headEnd type="none" w="med" len="med"/>
                      <a:tailEnd type="none" w="med" len="med"/>
                    </a:lnB>
                  </a:tcPr>
                </a:tc>
                <a:tc>
                  <a:txBody>
                    <a:bodyPr/>
                    <a:lstStyle/>
                    <a:p>
                      <a:pPr indent="0" marL="0">
                        <a:buNone/>
                      </a:pPr>
                      <a:r>
                        <a:rPr lang="en-US" sz="1100" dirty="0">
                          <a:solidFill>
                            <a:srgbClr val="CADCFC"/>
                          </a:solidFill>
                        </a:rPr>
                        <a:t>Cleaning rules, leakage analysis, stratified split, run_all orchestrator, EDA &amp; error analysis, report</a:t>
                      </a:r>
                      <a:endParaRPr lang="en-US" sz="1100" dirty="0"/>
                    </a:p>
                  </a:txBody>
                  <a:tcPr marL="91440" marR="91440" marT="45720" marB="45720">
                    <a:lnL w="6350" cap="flat" cmpd="sng" algn="ctr">
                      <a:solidFill>
                        <a:srgbClr val="1B2A41"/>
                      </a:solidFill>
                      <a:prstDash val="solid"/>
                      <a:round/>
                      <a:headEnd type="none" w="med" len="med"/>
                      <a:tailEnd type="none" w="med" len="med"/>
                    </a:lnL>
                    <a:lnR w="6350" cap="flat" cmpd="sng" algn="ctr">
                      <a:solidFill>
                        <a:srgbClr val="1B2A41"/>
                      </a:solidFill>
                      <a:prstDash val="solid"/>
                      <a:round/>
                      <a:headEnd type="none" w="med" len="med"/>
                      <a:tailEnd type="none" w="med" len="med"/>
                    </a:lnR>
                    <a:lnT w="6350" cap="flat" cmpd="sng" algn="ctr">
                      <a:solidFill>
                        <a:srgbClr val="1B2A41"/>
                      </a:solidFill>
                      <a:prstDash val="solid"/>
                      <a:round/>
                      <a:headEnd type="none" w="med" len="med"/>
                      <a:tailEnd type="none" w="med" len="med"/>
                    </a:lnT>
                    <a:lnB w="6350" cap="flat" cmpd="sng" algn="ctr">
                      <a:solidFill>
                        <a:srgbClr val="1B2A41"/>
                      </a:solidFill>
                      <a:prstDash val="solid"/>
                      <a:round/>
                      <a:headEnd type="none" w="med" len="med"/>
                      <a:tailEnd type="none" w="med" len="med"/>
                    </a:lnB>
                  </a:tcPr>
                </a:tc>
              </a:tr>
              <a:tr h="329184">
                <a:tc>
                  <a:txBody>
                    <a:bodyPr/>
                    <a:lstStyle/>
                    <a:p>
                      <a:pPr indent="0" marL="0">
                        <a:buNone/>
                      </a:pPr>
                      <a:r>
                        <a:rPr lang="en-US" sz="1100" b="1" dirty="0">
                          <a:solidFill>
                            <a:srgbClr val="FFFFFF"/>
                          </a:solidFill>
                        </a:rPr>
                        <a:t>Nihat Ismayilzade</a:t>
                      </a:r>
                      <a:endParaRPr lang="en-US" sz="1100" dirty="0"/>
                    </a:p>
                  </a:txBody>
                  <a:tcPr marL="91440" marR="91440" marT="45720" marB="45720">
                    <a:lnL w="6350" cap="flat" cmpd="sng" algn="ctr">
                      <a:solidFill>
                        <a:srgbClr val="1B2A41"/>
                      </a:solidFill>
                      <a:prstDash val="solid"/>
                      <a:round/>
                      <a:headEnd type="none" w="med" len="med"/>
                      <a:tailEnd type="none" w="med" len="med"/>
                    </a:lnL>
                    <a:lnR w="6350" cap="flat" cmpd="sng" algn="ctr">
                      <a:solidFill>
                        <a:srgbClr val="1B2A41"/>
                      </a:solidFill>
                      <a:prstDash val="solid"/>
                      <a:round/>
                      <a:headEnd type="none" w="med" len="med"/>
                      <a:tailEnd type="none" w="med" len="med"/>
                    </a:lnR>
                    <a:lnT w="6350" cap="flat" cmpd="sng" algn="ctr">
                      <a:solidFill>
                        <a:srgbClr val="1B2A41"/>
                      </a:solidFill>
                      <a:prstDash val="solid"/>
                      <a:round/>
                      <a:headEnd type="none" w="med" len="med"/>
                      <a:tailEnd type="none" w="med" len="med"/>
                    </a:lnT>
                    <a:lnB w="6350" cap="flat" cmpd="sng" algn="ctr">
                      <a:solidFill>
                        <a:srgbClr val="1B2A41"/>
                      </a:solidFill>
                      <a:prstDash val="solid"/>
                      <a:round/>
                      <a:headEnd type="none" w="med" len="med"/>
                      <a:tailEnd type="none" w="med" len="med"/>
                    </a:lnB>
                  </a:tcPr>
                </a:tc>
                <a:tc>
                  <a:txBody>
                    <a:bodyPr/>
                    <a:lstStyle/>
                    <a:p>
                      <a:pPr indent="0" marL="0">
                        <a:buNone/>
                      </a:pPr>
                      <a:r>
                        <a:rPr lang="en-US" sz="1100" dirty="0">
                          <a:solidFill>
                            <a:srgbClr val="CADCFC"/>
                          </a:solidFill>
                        </a:rPr>
                        <a:t>Metrics from scratch, matched benchmark &amp; 5-fold CV, test suite, Ridge and k-means/PCA bonuses, slides</a:t>
                      </a:r>
                      <a:endParaRPr lang="en-US" sz="1100" dirty="0"/>
                    </a:p>
                  </a:txBody>
                  <a:tcPr marL="91440" marR="91440" marT="45720" marB="45720">
                    <a:lnL w="6350" cap="flat" cmpd="sng" algn="ctr">
                      <a:solidFill>
                        <a:srgbClr val="1B2A41"/>
                      </a:solidFill>
                      <a:prstDash val="solid"/>
                      <a:round/>
                      <a:headEnd type="none" w="med" len="med"/>
                      <a:tailEnd type="none" w="med" len="med"/>
                    </a:lnL>
                    <a:lnR w="6350" cap="flat" cmpd="sng" algn="ctr">
                      <a:solidFill>
                        <a:srgbClr val="1B2A41"/>
                      </a:solidFill>
                      <a:prstDash val="solid"/>
                      <a:round/>
                      <a:headEnd type="none" w="med" len="med"/>
                      <a:tailEnd type="none" w="med" len="med"/>
                    </a:lnR>
                    <a:lnT w="6350" cap="flat" cmpd="sng" algn="ctr">
                      <a:solidFill>
                        <a:srgbClr val="1B2A41"/>
                      </a:solidFill>
                      <a:prstDash val="solid"/>
                      <a:round/>
                      <a:headEnd type="none" w="med" len="med"/>
                      <a:tailEnd type="none" w="med" len="med"/>
                    </a:lnT>
                    <a:lnB w="6350" cap="flat" cmpd="sng" algn="ctr">
                      <a:solidFill>
                        <a:srgbClr val="1B2A41"/>
                      </a:solidFill>
                      <a:prstDash val="solid"/>
                      <a:round/>
                      <a:headEnd type="none" w="med" len="med"/>
                      <a:tailEnd type="none" w="med" len="med"/>
                    </a:lnB>
                  </a:tcPr>
                </a:tc>
              </a:tr>
              <a:tr h="329184">
                <a:tc>
                  <a:txBody>
                    <a:bodyPr/>
                    <a:lstStyle/>
                    <a:p>
                      <a:pPr indent="0" marL="0">
                        <a:buNone/>
                      </a:pPr>
                      <a:r>
                        <a:rPr lang="en-US" sz="1100" b="1" dirty="0">
                          <a:solidFill>
                            <a:srgbClr val="FFFFFF"/>
                          </a:solidFill>
                        </a:rPr>
                        <a:t>Elshan Samadzade</a:t>
                      </a:r>
                      <a:endParaRPr lang="en-US" sz="1100" dirty="0"/>
                    </a:p>
                  </a:txBody>
                  <a:tcPr marL="91440" marR="91440" marT="45720" marB="45720">
                    <a:lnL w="6350" cap="flat" cmpd="sng" algn="ctr">
                      <a:solidFill>
                        <a:srgbClr val="1B2A41"/>
                      </a:solidFill>
                      <a:prstDash val="solid"/>
                      <a:round/>
                      <a:headEnd type="none" w="med" len="med"/>
                      <a:tailEnd type="none" w="med" len="med"/>
                    </a:lnL>
                    <a:lnR w="6350" cap="flat" cmpd="sng" algn="ctr">
                      <a:solidFill>
                        <a:srgbClr val="1B2A41"/>
                      </a:solidFill>
                      <a:prstDash val="solid"/>
                      <a:round/>
                      <a:headEnd type="none" w="med" len="med"/>
                      <a:tailEnd type="none" w="med" len="med"/>
                    </a:lnR>
                    <a:lnT w="6350" cap="flat" cmpd="sng" algn="ctr">
                      <a:solidFill>
                        <a:srgbClr val="1B2A41"/>
                      </a:solidFill>
                      <a:prstDash val="solid"/>
                      <a:round/>
                      <a:headEnd type="none" w="med" len="med"/>
                      <a:tailEnd type="none" w="med" len="med"/>
                    </a:lnT>
                    <a:lnB w="6350" cap="flat" cmpd="sng" algn="ctr">
                      <a:solidFill>
                        <a:srgbClr val="1B2A41"/>
                      </a:solidFill>
                      <a:prstDash val="solid"/>
                      <a:round/>
                      <a:headEnd type="none" w="med" len="med"/>
                      <a:tailEnd type="none" w="med" len="med"/>
                    </a:lnB>
                  </a:tcPr>
                </a:tc>
                <a:tc>
                  <a:txBody>
                    <a:bodyPr/>
                    <a:lstStyle/>
                    <a:p>
                      <a:pPr indent="0" marL="0">
                        <a:buNone/>
                      </a:pPr>
                      <a:r>
                        <a:rPr lang="en-US" sz="1100" dirty="0">
                          <a:solidFill>
                            <a:srgbClr val="CADCFC"/>
                          </a:solidFill>
                        </a:rPr>
                        <a:t>Decision tree (vectorised split search, criteria, stopping rules, importances), tree experiments, forest bonus</a:t>
                      </a:r>
                      <a:endParaRPr lang="en-US" sz="1100" dirty="0"/>
                    </a:p>
                  </a:txBody>
                  <a:tcPr marL="91440" marR="91440" marT="45720" marB="45720">
                    <a:lnL w="6350" cap="flat" cmpd="sng" algn="ctr">
                      <a:solidFill>
                        <a:srgbClr val="1B2A41"/>
                      </a:solidFill>
                      <a:prstDash val="solid"/>
                      <a:round/>
                      <a:headEnd type="none" w="med" len="med"/>
                      <a:tailEnd type="none" w="med" len="med"/>
                    </a:lnL>
                    <a:lnR w="6350" cap="flat" cmpd="sng" algn="ctr">
                      <a:solidFill>
                        <a:srgbClr val="1B2A41"/>
                      </a:solidFill>
                      <a:prstDash val="solid"/>
                      <a:round/>
                      <a:headEnd type="none" w="med" len="med"/>
                      <a:tailEnd type="none" w="med" len="med"/>
                    </a:lnR>
                    <a:lnT w="6350" cap="flat" cmpd="sng" algn="ctr">
                      <a:solidFill>
                        <a:srgbClr val="1B2A41"/>
                      </a:solidFill>
                      <a:prstDash val="solid"/>
                      <a:round/>
                      <a:headEnd type="none" w="med" len="med"/>
                      <a:tailEnd type="none" w="med" len="med"/>
                    </a:lnT>
                    <a:lnB w="6350" cap="flat" cmpd="sng" algn="ctr">
                      <a:solidFill>
                        <a:srgbClr val="1B2A41"/>
                      </a:solidFill>
                      <a:prstDash val="solid"/>
                      <a:round/>
                      <a:headEnd type="none" w="med" len="med"/>
                      <a:tailEnd type="none" w="med" len="med"/>
                    </a:lnB>
                  </a:tcPr>
                </a:tc>
              </a:tr>
            </a:tbl>
          </a:graphicData>
        </a:graphic>
      </p:graphicFrame>
      <p:sp>
        <p:nvSpPr>
          <p:cNvPr id="5" name="Text 2"/>
          <p:cNvSpPr txBox="1"/>
          <p:nvPr/>
        </p:nvSpPr>
        <p:spPr>
          <a:xfrm>
            <a:off x="548640" y="822960"/>
            <a:ext cx="11091672" cy="457200"/>
          </a:xfrm>
          <a:prstGeom prst="rect">
            <a:avLst/>
          </a:prstGeom>
          <a:noFill/>
          <a:ln/>
        </p:spPr>
        <p:txBody>
          <a:bodyPr wrap="square" lIns="0" tIns="0" rIns="0" bIns="0" rtlCol="0" anchor="t"/>
          <a:lstStyle/>
          <a:p>
            <a:pPr indent="0" marL="0">
              <a:buNone/>
            </a:pPr>
            <a:r>
              <a:rPr lang="en-US" sz="1400" dirty="0">
                <a:solidFill>
                  <a:srgbClr val="CADCFC"/>
                </a:solidFill>
              </a:rPr>
              <a:t>github.com/thuseynowa/bina-ml-final · tag v1.0-final · Thank you — questions?</a:t>
            </a:r>
            <a:endParaRPr lang="en-US" sz="1400" dirty="0"/>
          </a:p>
        </p:txBody>
      </p:sp>
    </p:spTree>
  </p:cSld>
  <p:clrMapOvr>
    <a:masterClrMapping/>
  </p:clrMapOvr>
</p:sld>
</file>

<file path=ppt/theme/theme1.xml><?xml version="1.0" encoding="utf-8"?>
<a:theme xmlns:a="http://schemas.openxmlformats.org/drawingml/2006/main" name="Bina Defense">
  <a:themeElements>
    <a:clrScheme name="Bina Defense">
      <a:dk1>
        <a:srgbClr val="1B2A41"/>
      </a:dk1>
      <a:lt1>
        <a:srgbClr val="FFFFFF"/>
      </a:lt1>
      <a:dk2>
        <a:srgbClr val="5B6778"/>
      </a:dk2>
      <a:lt2>
        <a:srgbClr val="F2F4F7"/>
      </a:lt2>
      <a:accent1>
        <a:srgbClr val="E69F00"/>
      </a:accent1>
      <a:accent2>
        <a:srgbClr val="0072B2"/>
      </a:accent2>
      <a:accent3>
        <a:srgbClr val="009E73"/>
      </a:accent3>
      <a:accent4>
        <a:srgbClr val="D55E00"/>
      </a:accent4>
      <a:accent5>
        <a:srgbClr val="CC79A7"/>
      </a:accent5>
      <a:accent6>
        <a:srgbClr val="56B4E9"/>
      </a:accent6>
      <a:hlink>
        <a:srgbClr val="0072B2"/>
      </a:hlink>
      <a:folHlink>
        <a:srgbClr val="5B6778"/>
      </a:folHlink>
    </a:clrScheme>
    <a:fontScheme name="Bina Defen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Baku Apartment Prices from the Inside</dc:title>
  <dc:subject>PptxGenJS Presentation</dc:subject>
  <dc:creator>Hajiyev, Huseynova, Ismayilzade, Samadzade</dc:creator>
  <cp:lastModifiedBy>Hajiyev, Huseynova, Ismayilzade, Samadzade</cp:lastModifiedBy>
  <cp:revision>1</cp:revision>
  <dcterms:created xsi:type="dcterms:W3CDTF">2026-10-15T13:18:40Z</dcterms:created>
  <dcterms:modified xsi:type="dcterms:W3CDTF">2026-10-15T13:18:40Z</dcterms:modified>
</cp:coreProperties>
</file>